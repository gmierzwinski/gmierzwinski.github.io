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331" r:id="rId3"/>
    <p:sldId id="259" r:id="rId4"/>
    <p:sldId id="327" r:id="rId5"/>
    <p:sldId id="330" r:id="rId6"/>
    <p:sldId id="333" r:id="rId7"/>
    <p:sldId id="334" r:id="rId8"/>
    <p:sldId id="280" r:id="rId9"/>
    <p:sldId id="281" r:id="rId10"/>
    <p:sldId id="295" r:id="rId11"/>
    <p:sldId id="283" r:id="rId12"/>
    <p:sldId id="288" r:id="rId13"/>
    <p:sldId id="284" r:id="rId14"/>
    <p:sldId id="285" r:id="rId15"/>
    <p:sldId id="335" r:id="rId16"/>
    <p:sldId id="339" r:id="rId17"/>
    <p:sldId id="336" r:id="rId18"/>
    <p:sldId id="337" r:id="rId19"/>
    <p:sldId id="338" r:id="rId20"/>
    <p:sldId id="340" r:id="rId21"/>
    <p:sldId id="341" r:id="rId22"/>
    <p:sldId id="282" r:id="rId23"/>
    <p:sldId id="309" r:id="rId24"/>
    <p:sldId id="347" r:id="rId25"/>
    <p:sldId id="348" r:id="rId26"/>
    <p:sldId id="311" r:id="rId27"/>
    <p:sldId id="342" r:id="rId28"/>
    <p:sldId id="268" r:id="rId29"/>
    <p:sldId id="269" r:id="rId30"/>
    <p:sldId id="270" r:id="rId31"/>
    <p:sldId id="344" r:id="rId32"/>
    <p:sldId id="260" r:id="rId33"/>
    <p:sldId id="265" r:id="rId34"/>
    <p:sldId id="326" r:id="rId35"/>
    <p:sldId id="328" r:id="rId36"/>
    <p:sldId id="345" r:id="rId37"/>
    <p:sldId id="329" r:id="rId38"/>
    <p:sldId id="346" r:id="rId39"/>
    <p:sldId id="297" r:id="rId40"/>
    <p:sldId id="323" r:id="rId41"/>
    <p:sldId id="32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egory" initials="G" lastIdx="1" clrIdx="0">
    <p:extLst>
      <p:ext uri="{19B8F6BF-5375-455C-9EA6-DF929625EA0E}">
        <p15:presenceInfo xmlns:p15="http://schemas.microsoft.com/office/powerpoint/2012/main" xmlns="" userId="Greg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430A0"/>
    <a:srgbClr val="664A97"/>
    <a:srgbClr val="6A42AE"/>
    <a:srgbClr val="6B34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4" autoAdjust="0"/>
    <p:restoredTop sz="85312" autoAdjust="0"/>
  </p:normalViewPr>
  <p:slideViewPr>
    <p:cSldViewPr snapToGrid="0">
      <p:cViewPr varScale="1">
        <p:scale>
          <a:sx n="87" d="100"/>
          <a:sy n="87" d="100"/>
        </p:scale>
        <p:origin x="-956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83E9D-07AB-4C6D-BFD0-47E805C6B3D4}" type="datetimeFigureOut">
              <a:rPr lang="en-CA" smtClean="0"/>
              <a:pPr/>
              <a:t>2026-03-08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0841C-25C9-4C0C-A7FA-C4A363D14F5A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23752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0841C-25C9-4C0C-A7FA-C4A363D14F5A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340334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0841C-25C9-4C0C-A7FA-C4A363D14F5A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86391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9005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755979" y="6575422"/>
            <a:ext cx="159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Fall 2016</a:t>
            </a:r>
            <a:endParaRPr lang="en-CA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CA"/>
              <a:t>CS 499: Honors Dissertation</a:t>
            </a:r>
            <a:endParaRPr lang="en-CA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6573836"/>
            <a:ext cx="798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174927E-2439-42C0-9720-7BBCA09BF46F}" type="slidenum">
              <a:rPr lang="en-CA" smtClean="0"/>
              <a:pPr/>
              <a:t>‹#›</a:t>
            </a:fld>
            <a:r>
              <a:rPr lang="en-CA" dirty="0"/>
              <a:t> / 32</a:t>
            </a:r>
          </a:p>
        </p:txBody>
      </p:sp>
    </p:spTree>
    <p:extLst>
      <p:ext uri="{BB962C8B-B14F-4D97-AF65-F5344CB8AC3E}">
        <p14:creationId xmlns:p14="http://schemas.microsoft.com/office/powerpoint/2010/main" xmlns="" val="182237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1167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0930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08792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0238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23409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18942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25297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CS 499: Honors Dissertation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72295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555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938" y="11699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55979" y="6575422"/>
            <a:ext cx="159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Fall 2016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CA"/>
              <a:t>CS 499: Honors Dissertation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6573836"/>
            <a:ext cx="798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174927E-2439-42C0-9720-7BBCA09BF46F}" type="slidenum">
              <a:rPr lang="en-CA" smtClean="0"/>
              <a:pPr/>
              <a:t>‹#›</a:t>
            </a:fld>
            <a:r>
              <a:rPr lang="en-CA" dirty="0"/>
              <a:t> / 32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58538" y="0"/>
            <a:ext cx="838200" cy="88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006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29987-cute-turtle-clipart" TargetMode="External"/><Relationship Id="rId7" Type="http://schemas.openxmlformats.org/officeDocument/2006/relationships/hyperlink" Target="https://pixabay.com/en/airplane-funny-passenger-plane-jet-161163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pixabay.com/en/table-furniture-wooden-1300555/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irplane-funny-passenger-plane-jet-161163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tockphotos.biz/stockphoto/1691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29987-cute-turtle-clip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table-furniture-wooden-1300555/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29987-cute-turtle-clip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table-furniture-wooden-1300555/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29987-cute-turtle-clip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table-furniture-wooden-1300555/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29987-cute-turtle-clip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table-furniture-wooden-1300555/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google-java-format" TargetMode="External"/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en-US/docs/MDN/Guidelines/Code_guidelines/JavaScript" TargetMode="External"/><Relationship Id="rId4" Type="http://schemas.openxmlformats.org/officeDocument/2006/relationships/hyperlink" Target="https://eslint.org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92100" y="-254000"/>
            <a:ext cx="12601542" cy="2578949"/>
          </a:xfrm>
          <a:prstGeom prst="rect">
            <a:avLst/>
          </a:prstGeom>
          <a:solidFill>
            <a:srgbClr val="664A97"/>
          </a:solidFill>
          <a:ln w="114300">
            <a:solidFill>
              <a:srgbClr val="64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10747"/>
            <a:ext cx="9144000" cy="1916376"/>
          </a:xfrm>
        </p:spPr>
        <p:txBody>
          <a:bodyPr>
            <a:normAutofit/>
          </a:bodyPr>
          <a:lstStyle/>
          <a:p>
            <a:r>
              <a:rPr lang="en-US" altLang="en-US" sz="6000" dirty="0"/>
              <a:t>Review of Useful Techniques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6512" y="1172305"/>
            <a:ext cx="9575800" cy="5659285"/>
          </a:xfrm>
        </p:spPr>
        <p:txBody>
          <a:bodyPr>
            <a:normAutofit/>
          </a:bodyPr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CS321: Advanced Programming Techniques</a:t>
            </a:r>
          </a:p>
          <a:p>
            <a:r>
              <a:rPr lang="en-CA" dirty="0"/>
              <a:t>Prof: Gregory Mierzwinski</a:t>
            </a:r>
            <a:endParaRPr lang="en-CA" baseline="30000" dirty="0"/>
          </a:p>
          <a:p>
            <a:endParaRPr lang="en-CA" dirty="0"/>
          </a:p>
        </p:txBody>
      </p:sp>
      <p:pic>
        <p:nvPicPr>
          <p:cNvPr id="13" name="Picture 8" descr="http://osiris.ubishops.ca/~alussier/images/transparentlogo_bu.png">
            <a:extLst>
              <a:ext uri="{FF2B5EF4-FFF2-40B4-BE49-F238E27FC236}">
                <a16:creationId xmlns:a16="http://schemas.microsoft.com/office/drawing/2014/main" xmlns="" id="{CCB9A035-2F1C-4B96-A5DB-70B72D6E4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10514" y="4847458"/>
            <a:ext cx="4770403" cy="167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7707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Your Code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Check the value you get from your method with the expected result: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if (</a:t>
            </a:r>
            <a:r>
              <a:rPr lang="en-US" altLang="en-US" dirty="0" err="1">
                <a:ea typeface="ＭＳ Ｐゴシック" panose="020B0600070205080204" pitchFamily="34" charset="-128"/>
              </a:rPr>
              <a:t>myResult</a:t>
            </a:r>
            <a:r>
              <a:rPr lang="en-US" altLang="en-US" dirty="0">
                <a:ea typeface="ＭＳ Ｐゴシック" panose="020B0600070205080204" pitchFamily="34" charset="-128"/>
              </a:rPr>
              <a:t> != </a:t>
            </a:r>
            <a:r>
              <a:rPr lang="en-US" altLang="en-US" dirty="0" err="1">
                <a:ea typeface="ＭＳ Ｐゴシック" panose="020B0600070205080204" pitchFamily="34" charset="-128"/>
              </a:rPr>
              <a:t>expectedResult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Alternatively, check the program output and add comments to ensure that we see the expected results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Don’t modify your program to make it easier to test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BAD: Returning things you want to test, but they have no use outside of those tests</a:t>
            </a:r>
          </a:p>
          <a:p>
            <a:pPr lvl="1"/>
            <a:r>
              <a:rPr lang="en-US" altLang="en-US" b="1" dirty="0">
                <a:ea typeface="ＭＳ Ｐゴシック" panose="020B0600070205080204" pitchFamily="34" charset="-128"/>
              </a:rPr>
              <a:t>Solution: </a:t>
            </a:r>
            <a:r>
              <a:rPr lang="en-US" altLang="en-US" dirty="0">
                <a:ea typeface="ＭＳ Ｐゴシック" panose="020B0600070205080204" pitchFamily="34" charset="-128"/>
              </a:rPr>
              <a:t>Find a better way to test it!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10712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Use for loops when you know the number of things you are iterating over, otherwise use while loops.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Documentation is your friend! Use it.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Variable and class naming have language-specific conventions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Java, we use </a:t>
            </a:r>
            <a:r>
              <a:rPr lang="en-US" altLang="en-US" dirty="0" err="1">
                <a:ea typeface="ＭＳ Ｐゴシック" panose="020B0600070205080204" pitchFamily="34" charset="-128"/>
              </a:rPr>
              <a:t>camelCaseFormatting</a:t>
            </a:r>
            <a:r>
              <a:rPr lang="en-US" altLang="en-US" dirty="0">
                <a:ea typeface="ＭＳ Ｐゴシック" panose="020B0600070205080204" pitchFamily="34" charset="-128"/>
              </a:rPr>
              <a:t> for variables, and </a:t>
            </a:r>
            <a:r>
              <a:rPr lang="en-US" altLang="en-US" dirty="0" err="1">
                <a:ea typeface="ＭＳ Ｐゴシック" panose="020B0600070205080204" pitchFamily="34" charset="-128"/>
              </a:rPr>
              <a:t>FirstLetterUpperCase</a:t>
            </a:r>
            <a:r>
              <a:rPr lang="en-US" altLang="en-US" dirty="0">
                <a:ea typeface="ＭＳ Ｐゴシック" panose="020B0600070205080204" pitchFamily="34" charset="-128"/>
              </a:rPr>
              <a:t> for classes.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5120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DON’T make a while loop that has the potential to run infinitely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Always have a timeout on your while loops when their ending is ambiguous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Overusing if/switch statements is a sign of bad programming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4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2424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Use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String.format</a:t>
            </a:r>
            <a:r>
              <a:rPr lang="en-US" altLang="en-US" dirty="0">
                <a:ea typeface="ＭＳ Ｐゴシック" panose="020B0600070205080204" pitchFamily="34" charset="-128"/>
              </a:rPr>
              <a:t> to combine strings or values to create new strings.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Multi-dimensional matrices are arrays of arrays in any language.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2D Matrix is an array of arrays (Has an x, and y directions)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3D Matrix is an array of arrays of arrays (Has x, y, and z directions)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4D Matrix is an array of 3D matrices ()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imaging, we call each 3D element a voxel (volumetric pixel)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5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59951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Programming using only Objects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More representative of the real world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Reduces redundancy, and make your code more elegant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6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24498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 OOP language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Platform-independent because of the JVM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Widely used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7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81947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8</a:t>
            </a:fld>
            <a:r>
              <a:rPr lang="en-CA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03B4936-45A2-413F-AB8F-8C23C7A392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941748" y="2435023"/>
            <a:ext cx="3276289" cy="17222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7FEF2F8-9EEA-48B5-B21F-E3999BCF99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5181600" y="2449654"/>
            <a:ext cx="2295363" cy="1911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1C04142-3366-49EB-9FEC-88FF5368D1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8551606" y="2449654"/>
            <a:ext cx="2802194" cy="170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9323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9</a:t>
            </a:fld>
            <a:r>
              <a:rPr lang="en-CA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1C04142-3366-49EB-9FEC-88FF5368D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92300" y="2493964"/>
            <a:ext cx="2802194" cy="1707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65F8F52-C484-420F-8838-9BA9EB24F06F}"/>
              </a:ext>
            </a:extLst>
          </p:cNvPr>
          <p:cNvSpPr txBox="1"/>
          <p:nvPr/>
        </p:nvSpPr>
        <p:spPr>
          <a:xfrm>
            <a:off x="4100053" y="4709339"/>
            <a:ext cx="82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45FB07B-3C17-49FB-8188-00D3D635E234}"/>
              </a:ext>
            </a:extLst>
          </p:cNvPr>
          <p:cNvSpPr txBox="1"/>
          <p:nvPr/>
        </p:nvSpPr>
        <p:spPr>
          <a:xfrm>
            <a:off x="4100052" y="3630557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Fuselage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E719AD3-1761-492D-823C-0AA513693A5E}"/>
              </a:ext>
            </a:extLst>
          </p:cNvPr>
          <p:cNvSpPr txBox="1"/>
          <p:nvPr/>
        </p:nvSpPr>
        <p:spPr>
          <a:xfrm>
            <a:off x="4014908" y="1626350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Cabin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AECDDDD-9C69-4208-AA1C-905C5B95F22C}"/>
              </a:ext>
            </a:extLst>
          </p:cNvPr>
          <p:cNvSpPr txBox="1"/>
          <p:nvPr/>
        </p:nvSpPr>
        <p:spPr>
          <a:xfrm>
            <a:off x="4060726" y="2751816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Tail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8DDBEF33-54E1-493E-BF2F-6C758455DB2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082174" y="2919109"/>
            <a:ext cx="978552" cy="17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1E47557-78F8-4490-9DC2-B232D55FD35C}"/>
              </a:ext>
            </a:extLst>
          </p:cNvPr>
          <p:cNvCxnSpPr>
            <a:cxnSpLocks/>
          </p:cNvCxnSpPr>
          <p:nvPr/>
        </p:nvCxnSpPr>
        <p:spPr>
          <a:xfrm flipV="1">
            <a:off x="1035526" y="1759350"/>
            <a:ext cx="2946539" cy="9924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54728F14-6E5A-45E2-AC4A-EFD14011F60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757507" y="3375550"/>
            <a:ext cx="1342545" cy="4396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D54D66D9-20DA-42BE-9E8F-546A8ED2AA3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100523" y="3955042"/>
            <a:ext cx="1999530" cy="9389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104F6FC2-E13D-4097-9667-8F4A154A8D80}"/>
              </a:ext>
            </a:extLst>
          </p:cNvPr>
          <p:cNvCxnSpPr>
            <a:cxnSpLocks/>
          </p:cNvCxnSpPr>
          <p:nvPr/>
        </p:nvCxnSpPr>
        <p:spPr>
          <a:xfrm flipV="1">
            <a:off x="4677976" y="2461688"/>
            <a:ext cx="883307" cy="5061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9780F90-A07F-4BB0-9F2F-AAC340DC9D38}"/>
              </a:ext>
            </a:extLst>
          </p:cNvPr>
          <p:cNvCxnSpPr>
            <a:cxnSpLocks/>
          </p:cNvCxnSpPr>
          <p:nvPr/>
        </p:nvCxnSpPr>
        <p:spPr>
          <a:xfrm>
            <a:off x="4677976" y="2962993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C6058E9-F453-4FCC-9697-02D88A979F2A}"/>
              </a:ext>
            </a:extLst>
          </p:cNvPr>
          <p:cNvSpPr txBox="1"/>
          <p:nvPr/>
        </p:nvSpPr>
        <p:spPr>
          <a:xfrm>
            <a:off x="5621567" y="2232251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VerticalStabilizer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8EDB91B-C071-4D7E-B239-6F5257BFA37A}"/>
              </a:ext>
            </a:extLst>
          </p:cNvPr>
          <p:cNvSpPr txBox="1"/>
          <p:nvPr/>
        </p:nvSpPr>
        <p:spPr>
          <a:xfrm>
            <a:off x="5658066" y="2734689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TailRudder</a:t>
            </a:r>
            <a:endParaRPr lang="en-CA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6F513CEE-2FED-431E-B171-29AD4FD8073D}"/>
              </a:ext>
            </a:extLst>
          </p:cNvPr>
          <p:cNvGrpSpPr/>
          <p:nvPr/>
        </p:nvGrpSpPr>
        <p:grpSpPr>
          <a:xfrm>
            <a:off x="4776253" y="1205243"/>
            <a:ext cx="2831254" cy="734833"/>
            <a:chOff x="4888056" y="2353112"/>
            <a:chExt cx="2831254" cy="73483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760F0522-E927-4EF6-875E-2DADA29693AC}"/>
                </a:ext>
              </a:extLst>
            </p:cNvPr>
            <p:cNvCxnSpPr>
              <a:cxnSpLocks/>
            </p:cNvCxnSpPr>
            <p:nvPr/>
          </p:nvCxnSpPr>
          <p:spPr>
            <a:xfrm>
              <a:off x="4894795" y="2934207"/>
              <a:ext cx="943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96BC95-CF89-477C-A149-CADD8535D70D}"/>
                </a:ext>
              </a:extLst>
            </p:cNvPr>
            <p:cNvSpPr txBox="1"/>
            <p:nvPr/>
          </p:nvSpPr>
          <p:spPr>
            <a:xfrm>
              <a:off x="5898674" y="2718613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err="1"/>
                <a:t>PilotSeat</a:t>
              </a:r>
              <a:endParaRPr lang="en-CA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16A5DB64-6D02-469B-8ECF-1AC120A06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8056" y="2493964"/>
              <a:ext cx="950330" cy="4402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85C4C53D-D5CB-4E7F-937C-C49212F44A70}"/>
                </a:ext>
              </a:extLst>
            </p:cNvPr>
            <p:cNvSpPr txBox="1"/>
            <p:nvPr/>
          </p:nvSpPr>
          <p:spPr>
            <a:xfrm>
              <a:off x="5898674" y="2353112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err="1"/>
                <a:t>CoPilotSeat</a:t>
              </a:r>
              <a:endParaRPr lang="en-CA" dirty="0"/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5D867792-63F2-4767-BC8D-917B88AC05E1}"/>
              </a:ext>
            </a:extLst>
          </p:cNvPr>
          <p:cNvCxnSpPr>
            <a:cxnSpLocks/>
          </p:cNvCxnSpPr>
          <p:nvPr/>
        </p:nvCxnSpPr>
        <p:spPr>
          <a:xfrm>
            <a:off x="5078162" y="3815223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4708DE2-B64C-48F4-8076-59A108D618A6}"/>
              </a:ext>
            </a:extLst>
          </p:cNvPr>
          <p:cNvSpPr txBox="1"/>
          <p:nvPr/>
        </p:nvSpPr>
        <p:spPr>
          <a:xfrm>
            <a:off x="6096000" y="3630557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PassengerSeats</a:t>
            </a:r>
            <a:endParaRPr lang="en-CA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5CA8617A-911B-4C68-B5F4-CED221D4F758}"/>
              </a:ext>
            </a:extLst>
          </p:cNvPr>
          <p:cNvCxnSpPr>
            <a:cxnSpLocks/>
          </p:cNvCxnSpPr>
          <p:nvPr/>
        </p:nvCxnSpPr>
        <p:spPr>
          <a:xfrm flipV="1">
            <a:off x="5071577" y="3429000"/>
            <a:ext cx="950176" cy="3862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10573C7C-31D3-4491-9B05-DACBB0B02145}"/>
              </a:ext>
            </a:extLst>
          </p:cNvPr>
          <p:cNvSpPr txBox="1"/>
          <p:nvPr/>
        </p:nvSpPr>
        <p:spPr>
          <a:xfrm>
            <a:off x="6091390" y="3288687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Bathroom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BF01DE0F-75F5-4498-A057-FE68F1F8E4FB}"/>
              </a:ext>
            </a:extLst>
          </p:cNvPr>
          <p:cNvCxnSpPr>
            <a:cxnSpLocks/>
          </p:cNvCxnSpPr>
          <p:nvPr/>
        </p:nvCxnSpPr>
        <p:spPr>
          <a:xfrm>
            <a:off x="7719310" y="3815223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21D961B1-8920-45A2-B7B6-24C52F68A83D}"/>
              </a:ext>
            </a:extLst>
          </p:cNvPr>
          <p:cNvSpPr txBox="1"/>
          <p:nvPr/>
        </p:nvSpPr>
        <p:spPr>
          <a:xfrm>
            <a:off x="8662901" y="3628216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PassengerSeat</a:t>
            </a:r>
            <a:endParaRPr lang="en-CA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C1FAEF9C-B2F6-4215-9812-69CE9F14BAFC}"/>
              </a:ext>
            </a:extLst>
          </p:cNvPr>
          <p:cNvCxnSpPr>
            <a:cxnSpLocks/>
          </p:cNvCxnSpPr>
          <p:nvPr/>
        </p:nvCxnSpPr>
        <p:spPr>
          <a:xfrm flipV="1">
            <a:off x="10212883" y="3375550"/>
            <a:ext cx="419228" cy="4373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5B05E545-DCBA-4D82-8B24-9CA55C349478}"/>
              </a:ext>
            </a:extLst>
          </p:cNvPr>
          <p:cNvSpPr txBox="1"/>
          <p:nvPr/>
        </p:nvSpPr>
        <p:spPr>
          <a:xfrm>
            <a:off x="10609610" y="3082114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Passenger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3598B223-2123-426C-8451-717BE628A163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10200549" y="3786664"/>
            <a:ext cx="418740" cy="26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48A5FC5-8E8D-4334-94CA-553E93958E21}"/>
              </a:ext>
            </a:extLst>
          </p:cNvPr>
          <p:cNvSpPr txBox="1"/>
          <p:nvPr/>
        </p:nvSpPr>
        <p:spPr>
          <a:xfrm>
            <a:off x="10619289" y="3601998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Entertainment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90BB1FB3-601E-4C1C-B25F-639594D36DF0}"/>
              </a:ext>
            </a:extLst>
          </p:cNvPr>
          <p:cNvCxnSpPr>
            <a:cxnSpLocks/>
          </p:cNvCxnSpPr>
          <p:nvPr/>
        </p:nvCxnSpPr>
        <p:spPr>
          <a:xfrm>
            <a:off x="4925961" y="4899228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26170BE-DBB8-41CA-A9D4-23D0210E7F14}"/>
              </a:ext>
            </a:extLst>
          </p:cNvPr>
          <p:cNvSpPr txBox="1"/>
          <p:nvPr/>
        </p:nvSpPr>
        <p:spPr>
          <a:xfrm>
            <a:off x="5968523" y="4672734"/>
            <a:ext cx="107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Wing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B0C578F6-714B-4824-9ECE-5015FB620964}"/>
              </a:ext>
            </a:extLst>
          </p:cNvPr>
          <p:cNvCxnSpPr>
            <a:cxnSpLocks/>
          </p:cNvCxnSpPr>
          <p:nvPr/>
        </p:nvCxnSpPr>
        <p:spPr>
          <a:xfrm>
            <a:off x="6661355" y="4872188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xmlns="" id="{850D419C-9C5F-43B0-9494-8C763B70C8D8}"/>
              </a:ext>
            </a:extLst>
          </p:cNvPr>
          <p:cNvCxnSpPr>
            <a:cxnSpLocks/>
          </p:cNvCxnSpPr>
          <p:nvPr/>
        </p:nvCxnSpPr>
        <p:spPr>
          <a:xfrm>
            <a:off x="6661355" y="4872188"/>
            <a:ext cx="943591" cy="5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00FCB261-BF63-40FC-B508-C6E3BDD9E269}"/>
              </a:ext>
            </a:extLst>
          </p:cNvPr>
          <p:cNvSpPr txBox="1"/>
          <p:nvPr/>
        </p:nvSpPr>
        <p:spPr>
          <a:xfrm>
            <a:off x="7655418" y="4658064"/>
            <a:ext cx="107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Engines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9F61E270-C94A-40B7-A722-8E8BDDC11047}"/>
              </a:ext>
            </a:extLst>
          </p:cNvPr>
          <p:cNvSpPr txBox="1"/>
          <p:nvPr/>
        </p:nvSpPr>
        <p:spPr>
          <a:xfrm>
            <a:off x="7655418" y="5182259"/>
            <a:ext cx="107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WingFlap</a:t>
            </a:r>
            <a:endParaRPr lang="en-CA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CFF82DD4-5FF5-4264-902D-D7599D1875D6}"/>
              </a:ext>
            </a:extLst>
          </p:cNvPr>
          <p:cNvCxnSpPr>
            <a:cxnSpLocks/>
          </p:cNvCxnSpPr>
          <p:nvPr/>
        </p:nvCxnSpPr>
        <p:spPr>
          <a:xfrm>
            <a:off x="8629628" y="4833202"/>
            <a:ext cx="9435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D0F66810-2AF9-4236-95FB-FFBF82C4FD8E}"/>
              </a:ext>
            </a:extLst>
          </p:cNvPr>
          <p:cNvCxnSpPr>
            <a:cxnSpLocks/>
          </p:cNvCxnSpPr>
          <p:nvPr/>
        </p:nvCxnSpPr>
        <p:spPr>
          <a:xfrm flipV="1">
            <a:off x="8629628" y="4424523"/>
            <a:ext cx="943591" cy="4086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83B2A0EA-96AE-46DE-9582-415750498B5B}"/>
              </a:ext>
            </a:extLst>
          </p:cNvPr>
          <p:cNvSpPr txBox="1"/>
          <p:nvPr/>
        </p:nvSpPr>
        <p:spPr>
          <a:xfrm>
            <a:off x="9655434" y="4210694"/>
            <a:ext cx="150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InnerEngine</a:t>
            </a:r>
            <a:endParaRPr lang="en-C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D520A455-DE89-4DDE-8FC6-85DD4E5E4D49}"/>
              </a:ext>
            </a:extLst>
          </p:cNvPr>
          <p:cNvSpPr txBox="1"/>
          <p:nvPr/>
        </p:nvSpPr>
        <p:spPr>
          <a:xfrm>
            <a:off x="9666913" y="4601676"/>
            <a:ext cx="150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OuterEngine</a:t>
            </a:r>
            <a:endParaRPr lang="en-CA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AED62D3E-1C93-4BB9-81AF-99B4E63BC8E3}"/>
              </a:ext>
            </a:extLst>
          </p:cNvPr>
          <p:cNvSpPr txBox="1"/>
          <p:nvPr/>
        </p:nvSpPr>
        <p:spPr>
          <a:xfrm>
            <a:off x="1256950" y="3076301"/>
            <a:ext cx="1071715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Airplane</a:t>
            </a:r>
          </a:p>
        </p:txBody>
      </p:sp>
    </p:spTree>
    <p:extLst>
      <p:ext uri="{BB962C8B-B14F-4D97-AF65-F5344CB8AC3E}">
        <p14:creationId xmlns:p14="http://schemas.microsoft.com/office/powerpoint/2010/main" xmlns="" val="277996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BE07435-6B16-411D-BE0D-FB61038A8F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0331" y="2295999"/>
            <a:ext cx="2653545" cy="26119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10</a:t>
            </a:fld>
            <a:r>
              <a:rPr lang="en-CA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65F8F52-C484-420F-8838-9BA9EB24F06F}"/>
              </a:ext>
            </a:extLst>
          </p:cNvPr>
          <p:cNvSpPr txBox="1"/>
          <p:nvPr/>
        </p:nvSpPr>
        <p:spPr>
          <a:xfrm>
            <a:off x="4100052" y="4709339"/>
            <a:ext cx="138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Atmosphere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45FB07B-3C17-49FB-8188-00D3D635E234}"/>
              </a:ext>
            </a:extLst>
          </p:cNvPr>
          <p:cNvSpPr txBox="1"/>
          <p:nvPr/>
        </p:nvSpPr>
        <p:spPr>
          <a:xfrm>
            <a:off x="3864077" y="2673212"/>
            <a:ext cx="162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NorthPole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E719AD3-1761-492D-823C-0AA513693A5E}"/>
              </a:ext>
            </a:extLst>
          </p:cNvPr>
          <p:cNvSpPr txBox="1"/>
          <p:nvPr/>
        </p:nvSpPr>
        <p:spPr>
          <a:xfrm>
            <a:off x="3996606" y="1574684"/>
            <a:ext cx="115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Countries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1E47557-78F8-4490-9DC2-B232D55FD35C}"/>
              </a:ext>
            </a:extLst>
          </p:cNvPr>
          <p:cNvCxnSpPr>
            <a:cxnSpLocks/>
          </p:cNvCxnSpPr>
          <p:nvPr/>
        </p:nvCxnSpPr>
        <p:spPr>
          <a:xfrm flipV="1">
            <a:off x="1035526" y="1759350"/>
            <a:ext cx="2946539" cy="9924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54728F14-6E5A-45E2-AC4A-EFD14011F60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25441" y="2826809"/>
            <a:ext cx="2438636" cy="31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D54D66D9-20DA-42BE-9E8F-546A8ED2AA3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100523" y="3955042"/>
            <a:ext cx="1999529" cy="9389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6F513CEE-2FED-431E-B171-29AD4FD8073D}"/>
              </a:ext>
            </a:extLst>
          </p:cNvPr>
          <p:cNvGrpSpPr/>
          <p:nvPr/>
        </p:nvGrpSpPr>
        <p:grpSpPr>
          <a:xfrm>
            <a:off x="6948924" y="1226258"/>
            <a:ext cx="2831254" cy="734833"/>
            <a:chOff x="4888056" y="2353112"/>
            <a:chExt cx="2831254" cy="73483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760F0522-E927-4EF6-875E-2DADA29693AC}"/>
                </a:ext>
              </a:extLst>
            </p:cNvPr>
            <p:cNvCxnSpPr>
              <a:cxnSpLocks/>
            </p:cNvCxnSpPr>
            <p:nvPr/>
          </p:nvCxnSpPr>
          <p:spPr>
            <a:xfrm>
              <a:off x="4894795" y="2934207"/>
              <a:ext cx="943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96BC95-CF89-477C-A149-CADD8535D70D}"/>
                </a:ext>
              </a:extLst>
            </p:cNvPr>
            <p:cNvSpPr txBox="1"/>
            <p:nvPr/>
          </p:nvSpPr>
          <p:spPr>
            <a:xfrm>
              <a:off x="5898674" y="2718613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Provinces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16A5DB64-6D02-469B-8ECF-1AC120A06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8056" y="2493964"/>
              <a:ext cx="950330" cy="4402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85C4C53D-D5CB-4E7F-937C-C49212F44A70}"/>
                </a:ext>
              </a:extLst>
            </p:cNvPr>
            <p:cNvSpPr txBox="1"/>
            <p:nvPr/>
          </p:nvSpPr>
          <p:spPr>
            <a:xfrm>
              <a:off x="5898674" y="2353112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States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AD4E479C-C7D3-4FA7-8EE4-DA3F6846CEBF}"/>
              </a:ext>
            </a:extLst>
          </p:cNvPr>
          <p:cNvSpPr txBox="1"/>
          <p:nvPr/>
        </p:nvSpPr>
        <p:spPr>
          <a:xfrm>
            <a:off x="6022726" y="1604499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Country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B7A35247-303C-440E-9EF8-CFF4A62CB795}"/>
              </a:ext>
            </a:extLst>
          </p:cNvPr>
          <p:cNvCxnSpPr>
            <a:cxnSpLocks/>
          </p:cNvCxnSpPr>
          <p:nvPr/>
        </p:nvCxnSpPr>
        <p:spPr>
          <a:xfrm>
            <a:off x="5064443" y="1781153"/>
            <a:ext cx="978552" cy="17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2456DF6-62CB-4E4B-B3FA-997F2B3B16E6}"/>
              </a:ext>
            </a:extLst>
          </p:cNvPr>
          <p:cNvSpPr txBox="1"/>
          <p:nvPr/>
        </p:nvSpPr>
        <p:spPr>
          <a:xfrm>
            <a:off x="7959542" y="2049602"/>
            <a:ext cx="123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Territories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1958F21B-DD9D-4F87-A9FC-CBF5255F1B3C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6955663" y="1817297"/>
            <a:ext cx="1003879" cy="416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E7E4DA4C-EC3A-4ACF-8EBB-A00C0F8FF55E}"/>
              </a:ext>
            </a:extLst>
          </p:cNvPr>
          <p:cNvSpPr txBox="1"/>
          <p:nvPr/>
        </p:nvSpPr>
        <p:spPr>
          <a:xfrm>
            <a:off x="9389807" y="1644085"/>
            <a:ext cx="103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Province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0CC8607E-5F22-4E9F-A601-DE0D6E1F20A4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8985923" y="1811378"/>
            <a:ext cx="403884" cy="17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71FB8733-BFA2-4CDB-98C3-F2442114AFB8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0421052" y="1828751"/>
            <a:ext cx="380842" cy="170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DC0BFD13-F3B3-4BCC-8F72-4820D3CA3F2F}"/>
              </a:ext>
            </a:extLst>
          </p:cNvPr>
          <p:cNvSpPr txBox="1"/>
          <p:nvPr/>
        </p:nvSpPr>
        <p:spPr>
          <a:xfrm>
            <a:off x="10759347" y="1632631"/>
            <a:ext cx="182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Municipalities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B0D8A55A-C35F-4DD8-A7AC-42C2A2C91E9E}"/>
              </a:ext>
            </a:extLst>
          </p:cNvPr>
          <p:cNvGrpSpPr/>
          <p:nvPr/>
        </p:nvGrpSpPr>
        <p:grpSpPr>
          <a:xfrm>
            <a:off x="2103553" y="3745318"/>
            <a:ext cx="8361743" cy="803865"/>
            <a:chOff x="2652054" y="2702842"/>
            <a:chExt cx="8361743" cy="8038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0AECDDDD-9C69-4208-AA1C-905C5B95F22C}"/>
                </a:ext>
              </a:extLst>
            </p:cNvPr>
            <p:cNvSpPr txBox="1"/>
            <p:nvPr/>
          </p:nvSpPr>
          <p:spPr>
            <a:xfrm>
              <a:off x="4060726" y="2751816"/>
              <a:ext cx="1071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Oceans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xmlns="" id="{8DDBEF33-54E1-493E-BF2F-6C758455DB2F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2652054" y="2907686"/>
              <a:ext cx="1408672" cy="287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xmlns="" id="{E0A9ECB2-F47D-41E6-A396-253B7A4ED88E}"/>
                </a:ext>
              </a:extLst>
            </p:cNvPr>
            <p:cNvGrpSpPr/>
            <p:nvPr/>
          </p:nvGrpSpPr>
          <p:grpSpPr>
            <a:xfrm>
              <a:off x="4924317" y="2716074"/>
              <a:ext cx="2800726" cy="369332"/>
              <a:chOff x="4677976" y="2734689"/>
              <a:chExt cx="2800726" cy="369332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xmlns="" id="{104F6FC2-E13D-4097-9667-8F4A154A8D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06446" y="2967361"/>
                <a:ext cx="952159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xmlns="" id="{29780F90-A07F-4BB0-9F2F-AAC340DC9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7976" y="2962993"/>
                <a:ext cx="943591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78EDB91B-C071-4D7E-B239-6F5257BFA37A}"/>
                  </a:ext>
                </a:extLst>
              </p:cNvPr>
              <p:cNvSpPr txBox="1"/>
              <p:nvPr/>
            </p:nvSpPr>
            <p:spPr>
              <a:xfrm>
                <a:off x="5658066" y="2734689"/>
                <a:ext cx="1820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Ocean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0A60C194-FFE9-4535-BDE8-2F20E4E57547}"/>
                </a:ext>
              </a:extLst>
            </p:cNvPr>
            <p:cNvSpPr txBox="1"/>
            <p:nvPr/>
          </p:nvSpPr>
          <p:spPr>
            <a:xfrm>
              <a:off x="7719310" y="2702842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Fish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xmlns="" id="{47E19BB3-F762-4D66-86F3-4DF00CE8304A}"/>
                </a:ext>
              </a:extLst>
            </p:cNvPr>
            <p:cNvCxnSpPr>
              <a:cxnSpLocks/>
            </p:cNvCxnSpPr>
            <p:nvPr/>
          </p:nvCxnSpPr>
          <p:spPr>
            <a:xfrm>
              <a:off x="8249570" y="2907686"/>
              <a:ext cx="943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3B75113D-26B4-4A15-9FFC-2D447FA3EC79}"/>
                </a:ext>
              </a:extLst>
            </p:cNvPr>
            <p:cNvSpPr txBox="1"/>
            <p:nvPr/>
          </p:nvSpPr>
          <p:spPr>
            <a:xfrm>
              <a:off x="9193161" y="2720679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Shark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xmlns="" id="{EBF545C9-EA5A-4CE0-A939-9A1C6615DDD5}"/>
                </a:ext>
              </a:extLst>
            </p:cNvPr>
            <p:cNvCxnSpPr>
              <a:cxnSpLocks/>
            </p:cNvCxnSpPr>
            <p:nvPr/>
          </p:nvCxnSpPr>
          <p:spPr>
            <a:xfrm>
              <a:off x="6652787" y="2949330"/>
              <a:ext cx="918948" cy="3283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4C9035C0-A0A4-430A-91A1-6C4219863EDE}"/>
                </a:ext>
              </a:extLst>
            </p:cNvPr>
            <p:cNvSpPr txBox="1"/>
            <p:nvPr/>
          </p:nvSpPr>
          <p:spPr>
            <a:xfrm>
              <a:off x="7641372" y="3137375"/>
              <a:ext cx="1820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Volcano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50741080-9C80-4250-AC0F-FFD661CBFA1F}"/>
              </a:ext>
            </a:extLst>
          </p:cNvPr>
          <p:cNvSpPr txBox="1"/>
          <p:nvPr/>
        </p:nvSpPr>
        <p:spPr>
          <a:xfrm>
            <a:off x="4100052" y="5364516"/>
            <a:ext cx="154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TectonicPlates</a:t>
            </a:r>
            <a:endParaRPr lang="en-CA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6B3F6054-C557-4674-912C-7B62D069A0A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100523" y="4610219"/>
            <a:ext cx="1999529" cy="9389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1544325F-61CC-4767-9E91-0BFCAF00FECD}"/>
              </a:ext>
            </a:extLst>
          </p:cNvPr>
          <p:cNvSpPr txBox="1"/>
          <p:nvPr/>
        </p:nvSpPr>
        <p:spPr>
          <a:xfrm>
            <a:off x="5769204" y="2718736"/>
            <a:ext cx="162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SantaClaus</a:t>
            </a:r>
            <a:endParaRPr lang="en-CA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xmlns="" id="{3DC0B780-9162-4D43-8BD5-694331D969B9}"/>
              </a:ext>
            </a:extLst>
          </p:cNvPr>
          <p:cNvCxnSpPr>
            <a:cxnSpLocks/>
          </p:cNvCxnSpPr>
          <p:nvPr/>
        </p:nvCxnSpPr>
        <p:spPr>
          <a:xfrm>
            <a:off x="4950628" y="2889973"/>
            <a:ext cx="827250" cy="13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5D331EED-21ED-4FC2-B7DC-83316B7E165D}"/>
              </a:ext>
            </a:extLst>
          </p:cNvPr>
          <p:cNvSpPr txBox="1"/>
          <p:nvPr/>
        </p:nvSpPr>
        <p:spPr>
          <a:xfrm>
            <a:off x="857282" y="3308018"/>
            <a:ext cx="1376296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 err="1"/>
              <a:t>PlanetEarth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xmlns="" val="125671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r>
              <a:rPr lang="en-US" dirty="0"/>
              <a:t>Object needs to be responsible for it’s own data.</a:t>
            </a:r>
          </a:p>
          <a:p>
            <a:r>
              <a:rPr lang="en-US" dirty="0"/>
              <a:t>They need to define their own behaviour.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11</a:t>
            </a:fld>
            <a:r>
              <a:rPr lang="en-CA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BAB5EDB-C339-4658-978D-CB7B86C318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81511" y="2567891"/>
            <a:ext cx="3276289" cy="172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7DD399-6BEC-42B0-8C8F-80C05C13B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7460616" y="2493964"/>
            <a:ext cx="2295363" cy="191160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07C7073-511B-46BE-8CEC-CAFF15AD79B2}"/>
              </a:ext>
            </a:extLst>
          </p:cNvPr>
          <p:cNvCxnSpPr>
            <a:cxnSpLocks/>
          </p:cNvCxnSpPr>
          <p:nvPr/>
        </p:nvCxnSpPr>
        <p:spPr>
          <a:xfrm>
            <a:off x="3313471" y="4152458"/>
            <a:ext cx="0" cy="1452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056EDE4-8844-4846-B0A1-BE530F4D7466}"/>
              </a:ext>
            </a:extLst>
          </p:cNvPr>
          <p:cNvSpPr txBox="1"/>
          <p:nvPr/>
        </p:nvSpPr>
        <p:spPr>
          <a:xfrm>
            <a:off x="2615381" y="5598058"/>
            <a:ext cx="178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typeOfWood</a:t>
            </a:r>
            <a:r>
              <a:rPr lang="en-CA" dirty="0"/>
              <a:t>()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6109C71-5DB7-418B-ACC6-6B9C83D6F5BB}"/>
              </a:ext>
            </a:extLst>
          </p:cNvPr>
          <p:cNvSpPr txBox="1"/>
          <p:nvPr/>
        </p:nvSpPr>
        <p:spPr>
          <a:xfrm>
            <a:off x="8519653" y="5004620"/>
            <a:ext cx="1789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noise()</a:t>
            </a:r>
          </a:p>
          <a:p>
            <a:r>
              <a:rPr lang="en-CA" dirty="0"/>
              <a:t>walk()</a:t>
            </a:r>
          </a:p>
          <a:p>
            <a:r>
              <a:rPr lang="en-CA" dirty="0"/>
              <a:t>colour</a:t>
            </a:r>
          </a:p>
          <a:p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005BF5B4-EE3E-4309-A841-F9E134AE9FC1}"/>
              </a:ext>
            </a:extLst>
          </p:cNvPr>
          <p:cNvCxnSpPr>
            <a:cxnSpLocks/>
          </p:cNvCxnSpPr>
          <p:nvPr/>
        </p:nvCxnSpPr>
        <p:spPr>
          <a:xfrm>
            <a:off x="8912942" y="4152458"/>
            <a:ext cx="0" cy="852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070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r>
              <a:rPr lang="en-US" dirty="0"/>
              <a:t>Object needs to be responsible for it’s own data.</a:t>
            </a:r>
          </a:p>
          <a:p>
            <a:r>
              <a:rPr lang="en-US" dirty="0"/>
              <a:t>They need to define their own behaviour.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12</a:t>
            </a:fld>
            <a:r>
              <a:rPr lang="en-CA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BAB5EDB-C339-4658-978D-CB7B86C318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81511" y="2567891"/>
            <a:ext cx="3276289" cy="172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7DD399-6BEC-42B0-8C8F-80C05C13B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7460616" y="2493964"/>
            <a:ext cx="2295363" cy="191160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07C7073-511B-46BE-8CEC-CAFF15AD79B2}"/>
              </a:ext>
            </a:extLst>
          </p:cNvPr>
          <p:cNvCxnSpPr>
            <a:cxnSpLocks/>
          </p:cNvCxnSpPr>
          <p:nvPr/>
        </p:nvCxnSpPr>
        <p:spPr>
          <a:xfrm>
            <a:off x="3313471" y="4152458"/>
            <a:ext cx="0" cy="1452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056EDE4-8844-4846-B0A1-BE530F4D7466}"/>
              </a:ext>
            </a:extLst>
          </p:cNvPr>
          <p:cNvSpPr txBox="1"/>
          <p:nvPr/>
        </p:nvSpPr>
        <p:spPr>
          <a:xfrm>
            <a:off x="2615381" y="5598058"/>
            <a:ext cx="178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typeOfWood</a:t>
            </a:r>
            <a:r>
              <a:rPr lang="en-CA" dirty="0"/>
              <a:t>()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6109C71-5DB7-418B-ACC6-6B9C83D6F5BB}"/>
              </a:ext>
            </a:extLst>
          </p:cNvPr>
          <p:cNvSpPr txBox="1"/>
          <p:nvPr/>
        </p:nvSpPr>
        <p:spPr>
          <a:xfrm>
            <a:off x="8519653" y="5004620"/>
            <a:ext cx="1789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noise()</a:t>
            </a:r>
          </a:p>
          <a:p>
            <a:r>
              <a:rPr lang="en-CA" dirty="0"/>
              <a:t>walk()</a:t>
            </a:r>
          </a:p>
          <a:p>
            <a:r>
              <a:rPr lang="en-CA" dirty="0"/>
              <a:t>colour</a:t>
            </a:r>
          </a:p>
          <a:p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005BF5B4-EE3E-4309-A841-F9E134AE9FC1}"/>
              </a:ext>
            </a:extLst>
          </p:cNvPr>
          <p:cNvCxnSpPr>
            <a:cxnSpLocks/>
          </p:cNvCxnSpPr>
          <p:nvPr/>
        </p:nvCxnSpPr>
        <p:spPr>
          <a:xfrm>
            <a:off x="8912942" y="4152458"/>
            <a:ext cx="0" cy="852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DBA27E3B-CE81-443B-8B7B-F3E80DB22152}"/>
              </a:ext>
            </a:extLst>
          </p:cNvPr>
          <p:cNvSpPr/>
          <p:nvPr/>
        </p:nvSpPr>
        <p:spPr>
          <a:xfrm rot="929330">
            <a:off x="1506501" y="2847573"/>
            <a:ext cx="8556983" cy="3003353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059E428F-9429-45DA-A48E-0CC5482E0B5D}"/>
              </a:ext>
            </a:extLst>
          </p:cNvPr>
          <p:cNvSpPr/>
          <p:nvPr/>
        </p:nvSpPr>
        <p:spPr>
          <a:xfrm rot="20329068">
            <a:off x="2057125" y="3007865"/>
            <a:ext cx="8556983" cy="256448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90273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r>
              <a:rPr lang="en-US" dirty="0"/>
              <a:t>Object needs to be responsible for it’s own data.</a:t>
            </a:r>
          </a:p>
          <a:p>
            <a:r>
              <a:rPr lang="en-US" dirty="0"/>
              <a:t>They need to define their own behaviour.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13</a:t>
            </a:fld>
            <a:r>
              <a:rPr lang="en-CA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BAB5EDB-C339-4658-978D-CB7B86C318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81511" y="2567891"/>
            <a:ext cx="3276289" cy="172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7DD399-6BEC-42B0-8C8F-80C05C13B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7460616" y="2493964"/>
            <a:ext cx="2295363" cy="191160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07C7073-511B-46BE-8CEC-CAFF15AD79B2}"/>
              </a:ext>
            </a:extLst>
          </p:cNvPr>
          <p:cNvCxnSpPr>
            <a:cxnSpLocks/>
          </p:cNvCxnSpPr>
          <p:nvPr/>
        </p:nvCxnSpPr>
        <p:spPr>
          <a:xfrm>
            <a:off x="3313471" y="4152458"/>
            <a:ext cx="0" cy="8908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056EDE4-8844-4846-B0A1-BE530F4D7466}"/>
              </a:ext>
            </a:extLst>
          </p:cNvPr>
          <p:cNvSpPr txBox="1"/>
          <p:nvPr/>
        </p:nvSpPr>
        <p:spPr>
          <a:xfrm>
            <a:off x="2615381" y="5043268"/>
            <a:ext cx="178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typeOfWood</a:t>
            </a:r>
            <a:r>
              <a:rPr lang="en-CA" dirty="0"/>
              <a:t>()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6109C71-5DB7-418B-ACC6-6B9C83D6F5BB}"/>
              </a:ext>
            </a:extLst>
          </p:cNvPr>
          <p:cNvSpPr txBox="1"/>
          <p:nvPr/>
        </p:nvSpPr>
        <p:spPr>
          <a:xfrm>
            <a:off x="8519653" y="5004620"/>
            <a:ext cx="1789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noise()</a:t>
            </a:r>
          </a:p>
          <a:p>
            <a:r>
              <a:rPr lang="en-CA" dirty="0"/>
              <a:t>walk()</a:t>
            </a:r>
          </a:p>
          <a:p>
            <a:r>
              <a:rPr lang="en-CA" dirty="0"/>
              <a:t>colour</a:t>
            </a:r>
          </a:p>
          <a:p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005BF5B4-EE3E-4309-A841-F9E134AE9FC1}"/>
              </a:ext>
            </a:extLst>
          </p:cNvPr>
          <p:cNvCxnSpPr>
            <a:cxnSpLocks/>
          </p:cNvCxnSpPr>
          <p:nvPr/>
        </p:nvCxnSpPr>
        <p:spPr>
          <a:xfrm>
            <a:off x="8912942" y="4152458"/>
            <a:ext cx="0" cy="852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B59536B-137F-41E4-BA0A-2C4C1A71E1C1}"/>
              </a:ext>
            </a:extLst>
          </p:cNvPr>
          <p:cNvCxnSpPr/>
          <p:nvPr/>
        </p:nvCxnSpPr>
        <p:spPr>
          <a:xfrm>
            <a:off x="1553497" y="2493964"/>
            <a:ext cx="9104671" cy="304159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5F83E8C-4962-4D60-9C76-2445177C0A91}"/>
              </a:ext>
            </a:extLst>
          </p:cNvPr>
          <p:cNvCxnSpPr>
            <a:cxnSpLocks/>
          </p:cNvCxnSpPr>
          <p:nvPr/>
        </p:nvCxnSpPr>
        <p:spPr>
          <a:xfrm flipV="1">
            <a:off x="1553497" y="2320413"/>
            <a:ext cx="8524568" cy="373760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4003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045586"/>
          </a:xfrm>
        </p:spPr>
        <p:txBody>
          <a:bodyPr>
            <a:normAutofit/>
          </a:bodyPr>
          <a:lstStyle/>
          <a:p>
            <a:r>
              <a:rPr lang="en-US" dirty="0"/>
              <a:t>Object needs to be responsible for it’s own data.</a:t>
            </a:r>
          </a:p>
          <a:p>
            <a:r>
              <a:rPr lang="en-US" dirty="0"/>
              <a:t>They need to define their own behaviour.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14</a:t>
            </a:fld>
            <a:r>
              <a:rPr lang="en-CA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BAB5EDB-C339-4658-978D-CB7B86C318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81511" y="2567891"/>
            <a:ext cx="3276289" cy="172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7DD399-6BEC-42B0-8C8F-80C05C13B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7460616" y="2493964"/>
            <a:ext cx="2295363" cy="191160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07C7073-511B-46BE-8CEC-CAFF15AD79B2}"/>
              </a:ext>
            </a:extLst>
          </p:cNvPr>
          <p:cNvCxnSpPr>
            <a:cxnSpLocks/>
          </p:cNvCxnSpPr>
          <p:nvPr/>
        </p:nvCxnSpPr>
        <p:spPr>
          <a:xfrm>
            <a:off x="3313471" y="4152458"/>
            <a:ext cx="0" cy="8908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056EDE4-8844-4846-B0A1-BE530F4D7466}"/>
              </a:ext>
            </a:extLst>
          </p:cNvPr>
          <p:cNvSpPr txBox="1"/>
          <p:nvPr/>
        </p:nvSpPr>
        <p:spPr>
          <a:xfrm>
            <a:off x="8239432" y="5042889"/>
            <a:ext cx="178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typeOfWood</a:t>
            </a:r>
            <a:r>
              <a:rPr lang="en-CA" dirty="0"/>
              <a:t>()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6109C71-5DB7-418B-ACC6-6B9C83D6F5BB}"/>
              </a:ext>
            </a:extLst>
          </p:cNvPr>
          <p:cNvSpPr txBox="1"/>
          <p:nvPr/>
        </p:nvSpPr>
        <p:spPr>
          <a:xfrm>
            <a:off x="2915266" y="4998853"/>
            <a:ext cx="1789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noise()</a:t>
            </a:r>
          </a:p>
          <a:p>
            <a:r>
              <a:rPr lang="en-CA" dirty="0"/>
              <a:t>walk()</a:t>
            </a:r>
          </a:p>
          <a:p>
            <a:r>
              <a:rPr lang="en-CA" dirty="0"/>
              <a:t>colour</a:t>
            </a:r>
          </a:p>
          <a:p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005BF5B4-EE3E-4309-A841-F9E134AE9FC1}"/>
              </a:ext>
            </a:extLst>
          </p:cNvPr>
          <p:cNvCxnSpPr>
            <a:cxnSpLocks/>
          </p:cNvCxnSpPr>
          <p:nvPr/>
        </p:nvCxnSpPr>
        <p:spPr>
          <a:xfrm>
            <a:off x="8912942" y="4152458"/>
            <a:ext cx="0" cy="852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D0BEC306-7EB5-4B09-8E8E-D0C74D8CB22E}"/>
              </a:ext>
            </a:extLst>
          </p:cNvPr>
          <p:cNvSpPr/>
          <p:nvPr/>
        </p:nvSpPr>
        <p:spPr>
          <a:xfrm rot="1242360">
            <a:off x="10554598" y="979425"/>
            <a:ext cx="1002890" cy="2369574"/>
          </a:xfrm>
          <a:custGeom>
            <a:avLst/>
            <a:gdLst>
              <a:gd name="connsiteX0" fmla="*/ 0 w 1002890"/>
              <a:gd name="connsiteY0" fmla="*/ 1789471 h 2369574"/>
              <a:gd name="connsiteX1" fmla="*/ 167148 w 1002890"/>
              <a:gd name="connsiteY1" fmla="*/ 2035277 h 2369574"/>
              <a:gd name="connsiteX2" fmla="*/ 275303 w 1002890"/>
              <a:gd name="connsiteY2" fmla="*/ 2212258 h 2369574"/>
              <a:gd name="connsiteX3" fmla="*/ 314632 w 1002890"/>
              <a:gd name="connsiteY3" fmla="*/ 2310580 h 2369574"/>
              <a:gd name="connsiteX4" fmla="*/ 344129 w 1002890"/>
              <a:gd name="connsiteY4" fmla="*/ 2369574 h 2369574"/>
              <a:gd name="connsiteX5" fmla="*/ 393290 w 1002890"/>
              <a:gd name="connsiteY5" fmla="*/ 1779638 h 2369574"/>
              <a:gd name="connsiteX6" fmla="*/ 668593 w 1002890"/>
              <a:gd name="connsiteY6" fmla="*/ 825909 h 2369574"/>
              <a:gd name="connsiteX7" fmla="*/ 865239 w 1002890"/>
              <a:gd name="connsiteY7" fmla="*/ 294967 h 2369574"/>
              <a:gd name="connsiteX8" fmla="*/ 1002890 w 1002890"/>
              <a:gd name="connsiteY8" fmla="*/ 0 h 23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890" h="2369574">
                <a:moveTo>
                  <a:pt x="0" y="1789471"/>
                </a:moveTo>
                <a:cubicBezTo>
                  <a:pt x="92793" y="1944124"/>
                  <a:pt x="-74117" y="1668553"/>
                  <a:pt x="167148" y="2035277"/>
                </a:cubicBezTo>
                <a:cubicBezTo>
                  <a:pt x="205147" y="2093036"/>
                  <a:pt x="242655" y="2151315"/>
                  <a:pt x="275303" y="2212258"/>
                </a:cubicBezTo>
                <a:cubicBezTo>
                  <a:pt x="291972" y="2243373"/>
                  <a:pt x="300484" y="2278241"/>
                  <a:pt x="314632" y="2310580"/>
                </a:cubicBezTo>
                <a:cubicBezTo>
                  <a:pt x="323444" y="2330722"/>
                  <a:pt x="334297" y="2349909"/>
                  <a:pt x="344129" y="2369574"/>
                </a:cubicBezTo>
                <a:cubicBezTo>
                  <a:pt x="353373" y="2175439"/>
                  <a:pt x="359423" y="1969291"/>
                  <a:pt x="393290" y="1779638"/>
                </a:cubicBezTo>
                <a:cubicBezTo>
                  <a:pt x="447985" y="1473344"/>
                  <a:pt x="567682" y="1115005"/>
                  <a:pt x="668593" y="825909"/>
                </a:cubicBezTo>
                <a:cubicBezTo>
                  <a:pt x="730790" y="647723"/>
                  <a:pt x="794429" y="469909"/>
                  <a:pt x="865239" y="294967"/>
                </a:cubicBezTo>
                <a:cubicBezTo>
                  <a:pt x="905948" y="194392"/>
                  <a:pt x="1002890" y="0"/>
                  <a:pt x="1002890" y="0"/>
                </a:cubicBezTo>
              </a:path>
            </a:pathLst>
          </a:cu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C0FB370-DD8C-4F2B-AF04-E541C7C8FFFB}"/>
              </a:ext>
            </a:extLst>
          </p:cNvPr>
          <p:cNvSpPr/>
          <p:nvPr/>
        </p:nvSpPr>
        <p:spPr>
          <a:xfrm>
            <a:off x="1676400" y="2222090"/>
            <a:ext cx="3770667" cy="39918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1291B997-CF72-4B83-8055-5AAA79536704}"/>
              </a:ext>
            </a:extLst>
          </p:cNvPr>
          <p:cNvSpPr/>
          <p:nvPr/>
        </p:nvSpPr>
        <p:spPr>
          <a:xfrm>
            <a:off x="7106914" y="2222090"/>
            <a:ext cx="3002766" cy="39918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5577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Languages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3407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Classes, Objects =&gt; The blueprints, and the building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Instance/Object </a:t>
            </a:r>
            <a:r>
              <a:rPr lang="en-US" altLang="en-US" dirty="0">
                <a:ea typeface="ＭＳ Ｐゴシック" panose="020B0600070205080204" pitchFamily="34" charset="-128"/>
              </a:rPr>
              <a:t>methods and variables =&gt; Related to </a:t>
            </a:r>
            <a:r>
              <a:rPr lang="en-US" altLang="en-US" b="1" dirty="0">
                <a:ea typeface="ＭＳ Ｐゴシック" panose="020B0600070205080204" pitchFamily="34" charset="-128"/>
              </a:rPr>
              <a:t>the building </a:t>
            </a:r>
            <a:r>
              <a:rPr lang="en-US" altLang="en-US" dirty="0">
                <a:ea typeface="ＭＳ Ｐゴシック" panose="020B0600070205080204" pitchFamily="34" charset="-128"/>
              </a:rPr>
              <a:t>itself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Class/Static </a:t>
            </a:r>
            <a:r>
              <a:rPr lang="en-US" altLang="en-US" dirty="0">
                <a:ea typeface="ＭＳ Ｐゴシック" panose="020B0600070205080204" pitchFamily="34" charset="-128"/>
              </a:rPr>
              <a:t>methods and variables =&gt; Related to </a:t>
            </a:r>
            <a:r>
              <a:rPr lang="en-US" altLang="en-US" b="1" dirty="0">
                <a:ea typeface="ＭＳ Ｐゴシック" panose="020B0600070205080204" pitchFamily="34" charset="-128"/>
              </a:rPr>
              <a:t>all buildings </a:t>
            </a:r>
            <a:r>
              <a:rPr lang="en-US" altLang="en-US" dirty="0">
                <a:ea typeface="ＭＳ Ｐゴシック" panose="020B0600070205080204" pitchFamily="34" charset="-128"/>
              </a:rPr>
              <a:t>through the blueprint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15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36545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common to all objects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 fontScale="92500"/>
          </a:bodyPr>
          <a:lstStyle/>
          <a:p>
            <a:r>
              <a:rPr lang="en-US" dirty="0"/>
              <a:t>The class Object provides a number of methods designed to be </a:t>
            </a:r>
            <a:r>
              <a:rPr lang="en-US" dirty="0" err="1"/>
              <a:t>overriden</a:t>
            </a:r>
            <a:r>
              <a:rPr lang="en-US" dirty="0"/>
              <a:t>.  </a:t>
            </a:r>
          </a:p>
          <a:p>
            <a:endParaRPr lang="en-US" dirty="0"/>
          </a:p>
          <a:p>
            <a:pPr lvl="1"/>
            <a:r>
              <a:rPr lang="en-US" sz="2800" dirty="0"/>
              <a:t> equals()</a:t>
            </a:r>
          </a:p>
          <a:p>
            <a:pPr lvl="1"/>
            <a:r>
              <a:rPr lang="en-US" sz="2800" dirty="0"/>
              <a:t> </a:t>
            </a:r>
            <a:r>
              <a:rPr lang="en-US" sz="2800" dirty="0" err="1"/>
              <a:t>toString</a:t>
            </a:r>
            <a:r>
              <a:rPr lang="en-US" sz="2800" dirty="0"/>
              <a:t>( )</a:t>
            </a:r>
          </a:p>
          <a:p>
            <a:pPr lvl="1"/>
            <a:r>
              <a:rPr lang="en-US" sz="2800" dirty="0"/>
              <a:t> clone( )</a:t>
            </a:r>
          </a:p>
          <a:p>
            <a:pPr lvl="1"/>
            <a:r>
              <a:rPr lang="en-US" sz="2800" dirty="0"/>
              <a:t> finalize( 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default </a:t>
            </a:r>
            <a:r>
              <a:rPr lang="en-US" dirty="0" err="1"/>
              <a:t>behaviour</a:t>
            </a:r>
            <a:r>
              <a:rPr lang="en-US" dirty="0"/>
              <a:t> is implemented but that might not be what you want.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16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73739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Languages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3407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Overriding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Re-implementing a method in a subclass using the same method signature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Overloading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Re-implementing a method with the same name and return type in the subclass using a different method signature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17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47002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Languages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3407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Inheritance Hierarchy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Going down in the hierarchy involves more subclassing and continuously adding more information to the classes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Polymorphism =&gt; Meaning: </a:t>
            </a:r>
            <a:r>
              <a:rPr lang="en-US" altLang="en-US" b="1" i="1" dirty="0">
                <a:ea typeface="ＭＳ Ｐゴシック" panose="020B0600070205080204" pitchFamily="34" charset="-128"/>
              </a:rPr>
              <a:t>to take many forms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 idea of using subclasses anywhere a superclass is used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Cookie cutter analogy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Type used at run time is the dough, and the cookie cutter is the declared type</a:t>
            </a:r>
          </a:p>
          <a:p>
            <a:pPr lvl="3"/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 err="1">
                <a:ea typeface="ＭＳ Ｐゴシック" panose="020B0600070205080204" pitchFamily="34" charset="-128"/>
              </a:rPr>
              <a:t>aVar</a:t>
            </a:r>
            <a:r>
              <a:rPr lang="en-US" altLang="en-US" dirty="0">
                <a:ea typeface="ＭＳ Ｐゴシック" panose="020B0600070205080204" pitchFamily="34" charset="-128"/>
              </a:rPr>
              <a:t> = new B(); // A (superclass) is the cookie cutter, B (subclass) is the dough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This works because all subclasses have at least as much information as the superclass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Going the other way doesn’t work because the superclass never has as much information as is needed for a subclass.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18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15703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Languages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13407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Encapsulation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 idea that the object should be responsible for it’s own properties and no outer objects can affect this. (Using private for our variables).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Example: If you create a Person object </a:t>
            </a:r>
            <a:r>
              <a:rPr lang="en-US" altLang="en-US" b="1" dirty="0">
                <a:ea typeface="ＭＳ Ｐゴシック" panose="020B0600070205080204" pitchFamily="34" charset="-128"/>
              </a:rPr>
              <a:t>p1</a:t>
            </a:r>
            <a:r>
              <a:rPr lang="en-US" altLang="en-US" dirty="0">
                <a:ea typeface="ＭＳ Ｐゴシック" panose="020B0600070205080204" pitchFamily="34" charset="-128"/>
              </a:rPr>
              <a:t>, should other objects be able to change </a:t>
            </a:r>
            <a:r>
              <a:rPr lang="en-US" altLang="en-US" b="1" dirty="0">
                <a:ea typeface="ＭＳ Ｐゴシック" panose="020B0600070205080204" pitchFamily="34" charset="-128"/>
              </a:rPr>
              <a:t>p1’s name</a:t>
            </a:r>
            <a:r>
              <a:rPr lang="en-US" altLang="en-US" dirty="0">
                <a:ea typeface="ＭＳ Ｐゴシック" panose="020B0600070205080204" pitchFamily="34" charset="-128"/>
              </a:rPr>
              <a:t>?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Example: Should a Person object p2, be responsible for washing the clothes in </a:t>
            </a:r>
            <a:r>
              <a:rPr lang="en-US" altLang="en-US" dirty="0" err="1">
                <a:ea typeface="ＭＳ Ｐゴシック" panose="020B0600070205080204" pitchFamily="34" charset="-128"/>
              </a:rPr>
              <a:t>WashingMachine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wm</a:t>
            </a:r>
            <a:r>
              <a:rPr lang="en-US" altLang="en-US" dirty="0">
                <a:ea typeface="ＭＳ Ｐゴシック" panose="020B0600070205080204" pitchFamily="34" charset="-128"/>
              </a:rPr>
              <a:t> or should the </a:t>
            </a:r>
            <a:r>
              <a:rPr lang="en-US" altLang="en-US" dirty="0" err="1">
                <a:ea typeface="ＭＳ Ｐゴシック" panose="020B0600070205080204" pitchFamily="34" charset="-128"/>
              </a:rPr>
              <a:t>WashineMachine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wm</a:t>
            </a:r>
            <a:r>
              <a:rPr lang="en-US" altLang="en-US" dirty="0">
                <a:ea typeface="ＭＳ Ｐゴシック" panose="020B0600070205080204" pitchFamily="34" charset="-128"/>
              </a:rPr>
              <a:t> be responsible for this?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19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16100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157162"/>
            <a:ext cx="10795819" cy="1325563"/>
          </a:xfrm>
        </p:spPr>
        <p:txBody>
          <a:bodyPr/>
          <a:lstStyle/>
          <a:p>
            <a:r>
              <a:rPr lang="en-US" dirty="0"/>
              <a:t> Is-a is NOT Has-a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330722"/>
          </a:xfrm>
        </p:spPr>
        <p:txBody>
          <a:bodyPr>
            <a:normAutofit/>
          </a:bodyPr>
          <a:lstStyle/>
          <a:p>
            <a:r>
              <a:rPr lang="en-US" dirty="0"/>
              <a:t>Our idealization of inheritance is captured in a simple rule-of-thumb. </a:t>
            </a:r>
          </a:p>
          <a:p>
            <a:endParaRPr lang="en-US" dirty="0"/>
          </a:p>
          <a:p>
            <a:r>
              <a:rPr lang="en-US" dirty="0"/>
              <a:t>Try forming the English sentences ``An A is-a-kind-of  B''.  If it ``sounds right'' to your ear, then A can be made a subclass of B. </a:t>
            </a:r>
          </a:p>
          <a:p>
            <a:endParaRPr lang="en-US" dirty="0"/>
          </a:p>
          <a:p>
            <a:r>
              <a:rPr lang="en-US" dirty="0"/>
              <a:t>A Student is-a-kind-of human so student inherits from human</a:t>
            </a:r>
          </a:p>
          <a:p>
            <a:r>
              <a:rPr lang="en-US" dirty="0"/>
              <a:t>A dog is-a-kind-of mammal, and therefore a dog inherits from mammal </a:t>
            </a:r>
          </a:p>
          <a:p>
            <a:endParaRPr lang="en-US" dirty="0"/>
          </a:p>
          <a:p>
            <a:r>
              <a:rPr lang="en-US" dirty="0"/>
              <a:t>A car is-a-kind-of engine sounds wrong, and therefore inheritance is not natural. but a car has-a engine.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20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0268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157162"/>
            <a:ext cx="10795819" cy="1325563"/>
          </a:xfrm>
        </p:spPr>
        <p:txBody>
          <a:bodyPr/>
          <a:lstStyle/>
          <a:p>
            <a:r>
              <a:rPr lang="en-US" dirty="0"/>
              <a:t> is-a-kind-of  is NOT  is-a  either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330722"/>
          </a:xfrm>
        </p:spPr>
        <p:txBody>
          <a:bodyPr>
            <a:normAutofit/>
          </a:bodyPr>
          <a:lstStyle/>
          <a:p>
            <a:r>
              <a:rPr lang="en-US" dirty="0"/>
              <a:t>Try this:  </a:t>
            </a:r>
          </a:p>
          <a:p>
            <a:pPr lvl="1"/>
            <a:r>
              <a:rPr lang="en-US" dirty="0"/>
              <a:t>George is a professor.   </a:t>
            </a:r>
          </a:p>
          <a:p>
            <a:pPr lvl="1"/>
            <a:r>
              <a:rPr lang="en-US" dirty="0"/>
              <a:t>The class Professor is a profession..  </a:t>
            </a:r>
          </a:p>
          <a:p>
            <a:pPr lvl="1"/>
            <a:r>
              <a:rPr lang="en-US" dirty="0"/>
              <a:t>Therefore George is a Profession !!</a:t>
            </a:r>
          </a:p>
          <a:p>
            <a:endParaRPr lang="en-US" dirty="0"/>
          </a:p>
          <a:p>
            <a:r>
              <a:rPr lang="en-US" dirty="0"/>
              <a:t>The problem comes up when we mix up is-an-instance-of  and is-a-kind-of</a:t>
            </a:r>
          </a:p>
          <a:p>
            <a:endParaRPr lang="en-US" dirty="0"/>
          </a:p>
          <a:p>
            <a:r>
              <a:rPr lang="en-US" dirty="0"/>
              <a:t>Some authors refer to is-a-kind-of as generalization  and is-an-instance-of as classification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21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49030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157162"/>
            <a:ext cx="10795819" cy="1325563"/>
          </a:xfrm>
        </p:spPr>
        <p:txBody>
          <a:bodyPr/>
          <a:lstStyle/>
          <a:p>
            <a:r>
              <a:rPr lang="en-US" dirty="0"/>
              <a:t>Generalization VS  Classification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3307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</a:t>
            </a:r>
            <a:r>
              <a:rPr lang="en-US" dirty="0" err="1"/>
              <a:t>Shep</a:t>
            </a:r>
            <a:r>
              <a:rPr lang="en-US" dirty="0"/>
              <a:t> is a Border Collie.</a:t>
            </a:r>
          </a:p>
          <a:p>
            <a:r>
              <a:rPr lang="en-US" dirty="0"/>
              <a:t>2. A Border Collie is a Dog.</a:t>
            </a:r>
          </a:p>
          <a:p>
            <a:r>
              <a:rPr lang="en-US" dirty="0"/>
              <a:t>3. Dogs are Animals</a:t>
            </a:r>
          </a:p>
          <a:p>
            <a:r>
              <a:rPr lang="en-US" dirty="0"/>
              <a:t>4. A Border Collie is a Breed.</a:t>
            </a:r>
          </a:p>
          <a:p>
            <a:r>
              <a:rPr lang="en-US" dirty="0"/>
              <a:t>5. Dog is a Species</a:t>
            </a:r>
          </a:p>
          <a:p>
            <a:endParaRPr lang="en-US" dirty="0"/>
          </a:p>
          <a:p>
            <a:r>
              <a:rPr lang="en-US" dirty="0"/>
              <a:t>1+2: </a:t>
            </a:r>
            <a:r>
              <a:rPr lang="en-US" dirty="0" err="1"/>
              <a:t>Shep</a:t>
            </a:r>
            <a:r>
              <a:rPr lang="en-US" dirty="0"/>
              <a:t> is a Dog</a:t>
            </a:r>
          </a:p>
          <a:p>
            <a:r>
              <a:rPr lang="en-US" dirty="0"/>
              <a:t>1+2+3: </a:t>
            </a:r>
            <a:r>
              <a:rPr lang="en-US" dirty="0" err="1"/>
              <a:t>Shep</a:t>
            </a:r>
            <a:r>
              <a:rPr lang="en-US" dirty="0"/>
              <a:t> is a animal</a:t>
            </a:r>
          </a:p>
          <a:p>
            <a:r>
              <a:rPr lang="en-US" dirty="0"/>
              <a:t>1+4: </a:t>
            </a:r>
            <a:r>
              <a:rPr lang="en-US" dirty="0" err="1"/>
              <a:t>Shep</a:t>
            </a:r>
            <a:r>
              <a:rPr lang="en-US" dirty="0"/>
              <a:t> is a breed     ?????</a:t>
            </a:r>
          </a:p>
          <a:p>
            <a:r>
              <a:rPr lang="en-US" dirty="0"/>
              <a:t>2+5: A Border Collie is a Species   ?????</a:t>
            </a:r>
          </a:p>
          <a:p>
            <a:endParaRPr lang="en-US" dirty="0"/>
          </a:p>
          <a:p>
            <a:r>
              <a:rPr lang="en-US" dirty="0"/>
              <a:t>Generalization (is kind of)  is transitive	</a:t>
            </a:r>
          </a:p>
          <a:p>
            <a:r>
              <a:rPr lang="en-US" dirty="0"/>
              <a:t>Classification (is instance of) is not		</a:t>
            </a:r>
          </a:p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22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6098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US" altLang="en-US" sz="4400" i="0" dirty="0"/>
              <a:t>Abstract Classes Versus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should one use an Abstract class instead of an interface?</a:t>
            </a:r>
          </a:p>
          <a:p>
            <a:pPr lvl="1"/>
            <a:r>
              <a:rPr lang="en-US" dirty="0"/>
              <a:t>If the abstract class can provide an implementation at the appropriate level of abstraction</a:t>
            </a:r>
          </a:p>
          <a:p>
            <a:endParaRPr lang="en-US" dirty="0"/>
          </a:p>
          <a:p>
            <a:r>
              <a:rPr lang="en-US" dirty="0"/>
              <a:t>When should one use an interface in place of an Abstract Class?</a:t>
            </a:r>
          </a:p>
          <a:p>
            <a:pPr lvl="1"/>
            <a:r>
              <a:rPr lang="en-US" dirty="0"/>
              <a:t>When one is modeling behaviour </a:t>
            </a:r>
          </a:p>
          <a:p>
            <a:pPr lvl="1"/>
            <a:r>
              <a:rPr lang="en-US" dirty="0"/>
              <a:t>When the subclass needs to inherit from another class ( you can only extend one class )</a:t>
            </a:r>
          </a:p>
          <a:p>
            <a:pPr lvl="1"/>
            <a:r>
              <a:rPr lang="en-US" dirty="0"/>
              <a:t>When you cannot reasonably implement any of the methods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23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32507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US" altLang="en-US" sz="4400" i="0" dirty="0" smtClean="0"/>
              <a:t>Key Acronyms: DRY</a:t>
            </a:r>
            <a:endParaRPr lang="en-US" altLang="en-US" sz="44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0"/>
            <a:ext cx="10515600" cy="5378703"/>
          </a:xfrm>
        </p:spPr>
        <p:txBody>
          <a:bodyPr>
            <a:normAutofit/>
          </a:bodyPr>
          <a:lstStyle/>
          <a:p>
            <a:r>
              <a:rPr lang="en-US" b="1" dirty="0" smtClean="0"/>
              <a:t>DRY</a:t>
            </a:r>
            <a:r>
              <a:rPr lang="en-US" dirty="0" smtClean="0"/>
              <a:t>: Don’t repeat yourself</a:t>
            </a:r>
          </a:p>
          <a:p>
            <a:pPr lvl="1"/>
            <a:r>
              <a:rPr lang="en-CA" dirty="0" smtClean="0"/>
              <a:t>The idea that you shouldn’t repeat the same code in multiple areas.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24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32507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US" altLang="en-US" sz="4400" i="0" dirty="0" smtClean="0"/>
              <a:t>Key Acronyms: SOLID</a:t>
            </a:r>
            <a:endParaRPr lang="en-US" altLang="en-US" sz="4400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0"/>
            <a:ext cx="10515600" cy="5378703"/>
          </a:xfrm>
        </p:spPr>
        <p:txBody>
          <a:bodyPr>
            <a:normAutofit/>
          </a:bodyPr>
          <a:lstStyle/>
          <a:p>
            <a:r>
              <a:rPr lang="en-US" b="1" dirty="0" smtClean="0"/>
              <a:t>SOLID</a:t>
            </a:r>
            <a:r>
              <a:rPr lang="en-US" dirty="0" smtClean="0"/>
              <a:t>: </a:t>
            </a:r>
          </a:p>
          <a:p>
            <a:pPr lvl="1"/>
            <a:r>
              <a:rPr lang="en-CA" b="1" dirty="0" smtClean="0"/>
              <a:t>Single Responsibility Principle</a:t>
            </a:r>
            <a:r>
              <a:rPr lang="en-CA" dirty="0" smtClean="0"/>
              <a:t>: Classes/objects only have one responsibility/job.</a:t>
            </a:r>
          </a:p>
          <a:p>
            <a:pPr lvl="1"/>
            <a:r>
              <a:rPr lang="en-CA" b="1" dirty="0" smtClean="0"/>
              <a:t>Open-Closed Principle</a:t>
            </a:r>
            <a:r>
              <a:rPr lang="en-CA" dirty="0" smtClean="0"/>
              <a:t>:  Classes should be open for extension, but closed for modification.</a:t>
            </a:r>
          </a:p>
          <a:p>
            <a:pPr lvl="1"/>
            <a:r>
              <a:rPr lang="en-CA" b="1" dirty="0" err="1" smtClean="0"/>
              <a:t>Liskov</a:t>
            </a:r>
            <a:r>
              <a:rPr lang="en-CA" b="1" dirty="0" smtClean="0"/>
              <a:t> Substitution Principle</a:t>
            </a:r>
            <a:r>
              <a:rPr lang="en-CA" dirty="0" smtClean="0"/>
              <a:t>: Given a parent class and a subclass, the subclass can be used anywhere a parent class is with no issues and should behave in an indistinguishable manner.</a:t>
            </a:r>
          </a:p>
          <a:p>
            <a:pPr lvl="1"/>
            <a:r>
              <a:rPr lang="en-CA" b="1" dirty="0" smtClean="0"/>
              <a:t>Interface Segregation Principle</a:t>
            </a:r>
            <a:r>
              <a:rPr lang="en-CA" dirty="0" smtClean="0"/>
              <a:t>: Users of a class should not be forced to depend on interfaces they don’t need/use.</a:t>
            </a:r>
          </a:p>
          <a:p>
            <a:pPr lvl="1"/>
            <a:r>
              <a:rPr lang="en-CA" b="1" dirty="0" smtClean="0"/>
              <a:t>Dependency Inversion Principle</a:t>
            </a:r>
            <a:r>
              <a:rPr lang="en-CA" dirty="0" smtClean="0"/>
              <a:t>: Classes/objects in use shouldn’t depend on other concrete classes, instead depend on abstractions. In other words, concrete high-level modules should not depend on concrete low-level modules – depend on abstractions of the low-level modules instead.</a:t>
            </a:r>
            <a:endParaRPr lang="en-CA" b="1" dirty="0" smtClean="0"/>
          </a:p>
          <a:p>
            <a:pPr lvl="1"/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25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32507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144BBF-69E2-47B3-A5D4-FB03B54F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UML, &amp; Version Control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81305C-A702-4FE5-A134-6B1E026A7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UML</a:t>
            </a:r>
          </a:p>
          <a:p>
            <a:pPr lvl="1"/>
            <a:r>
              <a:rPr lang="en-CA" dirty="0"/>
              <a:t>Useful for conveying complex architectural solutions</a:t>
            </a:r>
          </a:p>
          <a:p>
            <a:pPr lvl="1"/>
            <a:r>
              <a:rPr lang="en-CA" dirty="0"/>
              <a:t>Plenty of tools available online to help you build them and properly follow the conventions</a:t>
            </a:r>
          </a:p>
          <a:p>
            <a:r>
              <a:rPr lang="en-CA" dirty="0"/>
              <a:t>Version Control Systems</a:t>
            </a:r>
          </a:p>
          <a:p>
            <a:pPr lvl="1"/>
            <a:r>
              <a:rPr lang="en-CA" dirty="0"/>
              <a:t>Immutable history</a:t>
            </a:r>
          </a:p>
          <a:p>
            <a:pPr lvl="1"/>
            <a:r>
              <a:rPr lang="en-CA" dirty="0"/>
              <a:t>Many kinds, with Git and Mercurial being a couple of the most popular</a:t>
            </a:r>
          </a:p>
          <a:p>
            <a:pPr lvl="1"/>
            <a:r>
              <a:rPr lang="en-CA" dirty="0"/>
              <a:t>Git is the VCS</a:t>
            </a:r>
          </a:p>
          <a:p>
            <a:pPr lvl="1"/>
            <a:r>
              <a:rPr lang="en-CA" dirty="0" err="1"/>
              <a:t>Github</a:t>
            </a:r>
            <a:r>
              <a:rPr lang="en-CA" dirty="0"/>
              <a:t> is a host for Git repositories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B06360-FB4C-4A3F-AFC2-967508E64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26</a:t>
            </a:fld>
            <a:r>
              <a:rPr lang="en-CA" dirty="0"/>
              <a:t> </a:t>
            </a:r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</p:spPr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</p:spTree>
    <p:extLst>
      <p:ext uri="{BB962C8B-B14F-4D97-AF65-F5344CB8AC3E}">
        <p14:creationId xmlns:p14="http://schemas.microsoft.com/office/powerpoint/2010/main" xmlns="" val="15431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921011-18FC-475B-B283-A4E0D7C6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Inner and Anonymous Classes/Methods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19EC20-1B41-4FDC-B979-74F142F69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Exists in many languages</a:t>
            </a:r>
          </a:p>
          <a:p>
            <a:endParaRPr lang="en-CA" dirty="0"/>
          </a:p>
          <a:p>
            <a:r>
              <a:rPr lang="en-CA" dirty="0"/>
              <a:t>Useful to hide (encapsulate) and organize functionality within an outer class (e.g. </a:t>
            </a:r>
            <a:r>
              <a:rPr lang="en-CA" dirty="0" err="1"/>
              <a:t>LinkedListCell</a:t>
            </a:r>
            <a:r>
              <a:rPr lang="en-CA" dirty="0"/>
              <a:t> in a LinkedList, Node in a Tree)</a:t>
            </a:r>
          </a:p>
          <a:p>
            <a:endParaRPr lang="en-CA" dirty="0"/>
          </a:p>
          <a:p>
            <a:r>
              <a:rPr lang="en-CA" dirty="0"/>
              <a:t>Quickly create an object that inherits from an interface as a method argument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FBBD55-E3C1-4C22-8665-BC6CC0B5B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27</a:t>
            </a:fld>
            <a:r>
              <a:rPr lang="en-CA" dirty="0"/>
              <a:t> </a:t>
            </a:r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</p:spPr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</p:spTree>
    <p:extLst>
      <p:ext uri="{BB962C8B-B14F-4D97-AF65-F5344CB8AC3E}">
        <p14:creationId xmlns:p14="http://schemas.microsoft.com/office/powerpoint/2010/main" xmlns="" val="270182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Java Iterators (in </a:t>
            </a:r>
            <a:r>
              <a:rPr lang="en-US" altLang="en-US" sz="4000" b="0" dirty="0" err="1">
                <a:latin typeface="Courier New" charset="0"/>
              </a:rPr>
              <a:t>java.util</a:t>
            </a:r>
            <a:r>
              <a:rPr lang="en-US" altLang="en-US" sz="4000" dirty="0"/>
              <a:t>)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0"/>
            <a:ext cx="10515600" cy="540543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r>
              <a:rPr lang="en-US" altLang="en-US" dirty="0"/>
              <a:t>remove safely deletes the object most recently accessed with next.</a:t>
            </a:r>
          </a:p>
          <a:p>
            <a:pPr marL="800100" lvl="1" indent="-342900">
              <a:defRPr/>
            </a:pPr>
            <a:r>
              <a:rPr lang="en-US" altLang="en-US" dirty="0"/>
              <a:t>remove need not be supported.</a:t>
            </a:r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r>
              <a:rPr lang="en-US" altLang="en-US" dirty="0" err="1"/>
              <a:t>hasNext</a:t>
            </a:r>
            <a:r>
              <a:rPr lang="en-US" altLang="en-US" dirty="0"/>
              <a:t> returns true if there are more items in a collection.</a:t>
            </a:r>
          </a:p>
          <a:p>
            <a:pPr marL="342900" indent="-342900">
              <a:defRPr/>
            </a:pPr>
            <a:endParaRPr lang="en-US" altLang="en-US" dirty="0"/>
          </a:p>
          <a:p>
            <a:pPr marL="342900" indent="-342900">
              <a:defRPr/>
            </a:pPr>
            <a:r>
              <a:rPr lang="en-US" altLang="en-US" dirty="0"/>
              <a:t>next will return the next item in a collection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28</a:t>
            </a:fld>
            <a:r>
              <a:rPr lang="en-CA" dirty="0"/>
              <a:t> 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xmlns="" id="{FCE9DDDC-8F7E-44FA-97F1-BF6F02C1B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432" y="1622323"/>
            <a:ext cx="4549775" cy="13144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600" b="1" dirty="0">
                <a:latin typeface="Courier New" charset="0"/>
              </a:rPr>
              <a:t>public </a:t>
            </a:r>
            <a:r>
              <a:rPr lang="en-US" altLang="en-US" sz="1600" b="1" dirty="0" err="1">
                <a:latin typeface="Courier New" charset="0"/>
              </a:rPr>
              <a:t>boolean</a:t>
            </a:r>
            <a:r>
              <a:rPr lang="en-US" altLang="en-US" sz="1600" b="1" dirty="0">
                <a:latin typeface="Courier New" charset="0"/>
              </a:rPr>
              <a:t> </a:t>
            </a:r>
            <a:r>
              <a:rPr lang="en-US" altLang="en-US" sz="1600" b="1" dirty="0" err="1">
                <a:latin typeface="Courier New" charset="0"/>
              </a:rPr>
              <a:t>hasNext</a:t>
            </a:r>
            <a:r>
              <a:rPr lang="en-US" altLang="en-US" sz="1600" b="1" dirty="0">
                <a:latin typeface="Courier New" charset="0"/>
              </a:rPr>
              <a:t>()</a:t>
            </a:r>
          </a:p>
          <a:p>
            <a:pPr>
              <a:defRPr/>
            </a:pPr>
            <a:endParaRPr lang="en-US" altLang="en-US" sz="1600" b="1" dirty="0">
              <a:latin typeface="Courier New" charset="0"/>
            </a:endParaRPr>
          </a:p>
          <a:p>
            <a:pPr>
              <a:defRPr/>
            </a:pPr>
            <a:r>
              <a:rPr lang="en-US" altLang="en-US" sz="1600" b="1" dirty="0">
                <a:latin typeface="Courier New" charset="0"/>
              </a:rPr>
              <a:t>public Object next()</a:t>
            </a:r>
          </a:p>
          <a:p>
            <a:pPr>
              <a:defRPr/>
            </a:pPr>
            <a:endParaRPr lang="en-US" altLang="en-US" sz="1600" b="1" dirty="0">
              <a:latin typeface="Courier New" charset="0"/>
            </a:endParaRPr>
          </a:p>
          <a:p>
            <a:pPr>
              <a:defRPr/>
            </a:pPr>
            <a:r>
              <a:rPr lang="en-US" altLang="en-US" sz="1600" b="1" dirty="0">
                <a:latin typeface="Courier New" charset="0"/>
              </a:rPr>
              <a:t>public void remove()</a:t>
            </a:r>
          </a:p>
        </p:txBody>
      </p:sp>
    </p:spTree>
    <p:extLst>
      <p:ext uri="{BB962C8B-B14F-4D97-AF65-F5344CB8AC3E}">
        <p14:creationId xmlns:p14="http://schemas.microsoft.com/office/powerpoint/2010/main" xmlns="" val="385421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Iterator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0"/>
            <a:ext cx="10515600" cy="540543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US" dirty="0"/>
              <a:t> </a:t>
            </a:r>
            <a:endParaRPr lang="en-US" altLang="en-US" sz="28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29</a:t>
            </a:fld>
            <a:r>
              <a:rPr lang="en-CA" dirty="0"/>
              <a:t> 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xmlns="" id="{F5F1EF1B-FDCC-44CE-90EB-0CB7313C9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871" y="1420761"/>
            <a:ext cx="8153400" cy="3759200"/>
          </a:xfrm>
          <a:prstGeom prst="rect">
            <a:avLst/>
          </a:prstGeom>
          <a:solidFill>
            <a:srgbClr val="FAF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Collection 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tcol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= . . .;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/*** Remove all elements of the collection ***/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// Declare an iterator over the collection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Iterator 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iter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= 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tcol.iterator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();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// Iterate through all elements of the underlying collection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while (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iter.hasNext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()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{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  // Get the next element of the underlying collection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  Object element = 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iter.next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()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  // remove the element returned by the last next()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   </a:t>
            </a: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iter.remove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charset="0"/>
              </a:rPr>
              <a:t>()</a:t>
            </a: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;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205268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Preconditions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0"/>
            <a:ext cx="10515600" cy="540543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US" sz="1400" dirty="0"/>
              <a:t> (conditions to satisfy before usage)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30</a:t>
            </a:fld>
            <a:r>
              <a:rPr lang="en-CA" dirty="0"/>
              <a:t> 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xmlns="" id="{5B1405A6-0C74-4EF0-8929-81614C79A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979" y="1735393"/>
            <a:ext cx="7620000" cy="825500"/>
          </a:xfrm>
          <a:prstGeom prst="rect">
            <a:avLst/>
          </a:prstGeom>
          <a:solidFill>
            <a:srgbClr val="FAF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public boolean hasNext()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0" cap="none" spc="0" normalizeH="0" baseline="0" noProof="0">
              <a:ln>
                <a:noFill/>
              </a:ln>
              <a:solidFill>
                <a:srgbClr val="063DE8"/>
              </a:solidFill>
              <a:effectLst/>
              <a:uLnTx/>
              <a:uFillTx/>
              <a:latin typeface="Courier New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063DE8"/>
                </a:solidFill>
                <a:effectLst/>
                <a:uLnTx/>
                <a:uFillTx/>
                <a:latin typeface="Courier New" charset="0"/>
              </a:rPr>
              <a:t>public Object next()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CCB8AA77-4B0D-4B6B-82D7-3BA5489CF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6304" y="2864106"/>
            <a:ext cx="7875588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 err="1">
                <a:solidFill>
                  <a:srgbClr val="0A0E55"/>
                </a:solidFill>
                <a:latin typeface="Courier New" charset="0"/>
              </a:rPr>
              <a:t>hasNext</a:t>
            </a: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has no preconditions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dirty="0">
              <a:solidFill>
                <a:srgbClr val="0A0E55"/>
              </a:solidFill>
              <a:latin typeface="Times New Roman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>
                <a:solidFill>
                  <a:srgbClr val="0A0E55"/>
                </a:solidFill>
                <a:latin typeface="Courier New" charset="0"/>
              </a:rPr>
              <a:t>next</a:t>
            </a: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has two preconditions: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</a:t>
            </a:r>
            <a:r>
              <a:rPr lang="en-US" altLang="en-US" sz="2400" b="1" dirty="0" err="1">
                <a:solidFill>
                  <a:srgbClr val="0A0E55"/>
                </a:solidFill>
                <a:latin typeface="Courier New" charset="0"/>
              </a:rPr>
              <a:t>hasNext</a:t>
            </a: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returns true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the underlying collection has not been modified by one of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  that collection’s mutators during the lifetime of that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A0E55"/>
                </a:solidFill>
                <a:latin typeface="Times New Roman" charset="0"/>
              </a:rPr>
              <a:t>   iterator</a:t>
            </a:r>
          </a:p>
        </p:txBody>
      </p:sp>
    </p:spTree>
    <p:extLst>
      <p:ext uri="{BB962C8B-B14F-4D97-AF65-F5344CB8AC3E}">
        <p14:creationId xmlns:p14="http://schemas.microsoft.com/office/powerpoint/2010/main" xmlns="" val="198329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921011-18FC-475B-B283-A4E0D7C6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use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19EC20-1B41-4FDC-B979-74F142F69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single interface to iterate through any Collections or Lists of objects.</a:t>
            </a:r>
          </a:p>
          <a:p>
            <a:endParaRPr lang="en-CA" dirty="0"/>
          </a:p>
          <a:p>
            <a:r>
              <a:rPr lang="en-CA" dirty="0"/>
              <a:t>Otherwise, you’ll need to start checking the list/collection type before iterating over elements in these object arrays (e.g. one method for iterating through an </a:t>
            </a:r>
            <a:r>
              <a:rPr lang="en-CA" dirty="0" err="1"/>
              <a:t>ArrayList</a:t>
            </a:r>
            <a:r>
              <a:rPr lang="en-CA" dirty="0"/>
              <a:t>, and another for a Collection)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FBBD55-E3C1-4C22-8665-BC6CC0B5B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31</a:t>
            </a:fld>
            <a:r>
              <a:rPr lang="en-CA"/>
              <a:t> / 32</a:t>
            </a:r>
            <a:endParaRPr lang="en-CA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2387" y="6573836"/>
            <a:ext cx="2986087" cy="365125"/>
          </a:xfrm>
        </p:spPr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</p:spTree>
    <p:extLst>
      <p:ext uri="{BB962C8B-B14F-4D97-AF65-F5344CB8AC3E}">
        <p14:creationId xmlns:p14="http://schemas.microsoft.com/office/powerpoint/2010/main" xmlns="" val="273591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Linting (or Static Analysis)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5252064"/>
          </a:xfrm>
        </p:spPr>
        <p:txBody>
          <a:bodyPr>
            <a:normAutofit/>
          </a:bodyPr>
          <a:lstStyle/>
          <a:p>
            <a:r>
              <a:rPr lang="en-US" b="1" dirty="0"/>
              <a:t>Static Analysis </a:t>
            </a:r>
            <a:r>
              <a:rPr lang="en-US" dirty="0"/>
              <a:t>of your code</a:t>
            </a:r>
          </a:p>
          <a:p>
            <a:pPr lvl="1"/>
            <a:r>
              <a:rPr lang="en-US" dirty="0"/>
              <a:t>Analyzes the static aspect (e.g. the code, file names etc.) of your program</a:t>
            </a:r>
          </a:p>
          <a:p>
            <a:pPr lvl="1"/>
            <a:r>
              <a:rPr lang="en-US" dirty="0"/>
              <a:t>Doesn’t care about what your code does at runtime</a:t>
            </a:r>
          </a:p>
          <a:p>
            <a:pPr lvl="1"/>
            <a:r>
              <a:rPr lang="en-US" dirty="0"/>
              <a:t>Only cares if it looks right, and could compile it as well</a:t>
            </a:r>
          </a:p>
          <a:p>
            <a:pPr lvl="1"/>
            <a:r>
              <a:rPr lang="en-US" dirty="0"/>
              <a:t>Examples: </a:t>
            </a:r>
          </a:p>
          <a:p>
            <a:pPr lvl="2"/>
            <a:r>
              <a:rPr lang="en-US" dirty="0">
                <a:hlinkClick r:id="rId2"/>
              </a:rPr>
              <a:t>PEP-8</a:t>
            </a:r>
            <a:r>
              <a:rPr lang="en-US" dirty="0"/>
              <a:t> in Python</a:t>
            </a:r>
          </a:p>
          <a:p>
            <a:pPr lvl="2"/>
            <a:r>
              <a:rPr lang="en-US" dirty="0"/>
              <a:t>IntelliJ-</a:t>
            </a:r>
            <a:r>
              <a:rPr lang="en-US" dirty="0" err="1"/>
              <a:t>builtin</a:t>
            </a:r>
            <a:r>
              <a:rPr lang="en-US" dirty="0"/>
              <a:t>, &amp; </a:t>
            </a:r>
            <a:r>
              <a:rPr lang="en-US" dirty="0">
                <a:hlinkClick r:id="rId3"/>
              </a:rPr>
              <a:t>Google Style</a:t>
            </a:r>
            <a:r>
              <a:rPr lang="en-US" dirty="0"/>
              <a:t> in Java</a:t>
            </a:r>
          </a:p>
          <a:p>
            <a:pPr lvl="2"/>
            <a:r>
              <a:rPr lang="en-US" dirty="0" err="1">
                <a:hlinkClick r:id="rId4"/>
              </a:rPr>
              <a:t>ESLint</a:t>
            </a:r>
            <a:r>
              <a:rPr lang="en-US" dirty="0"/>
              <a:t>, &amp; </a:t>
            </a:r>
            <a:r>
              <a:rPr lang="en-US" dirty="0">
                <a:hlinkClick r:id="rId5"/>
              </a:rPr>
              <a:t>Mozilla Style</a:t>
            </a:r>
            <a:r>
              <a:rPr lang="en-US" dirty="0"/>
              <a:t> in </a:t>
            </a:r>
            <a:r>
              <a:rPr lang="en-US" dirty="0" err="1"/>
              <a:t>Javascript</a:t>
            </a:r>
            <a:endParaRPr lang="en-US" dirty="0"/>
          </a:p>
          <a:p>
            <a:pPr lvl="2"/>
            <a:r>
              <a:rPr lang="en-US" dirty="0"/>
              <a:t>Custom Validators</a:t>
            </a:r>
          </a:p>
          <a:p>
            <a:pPr lvl="1"/>
            <a:endParaRPr lang="en-US" dirty="0"/>
          </a:p>
          <a:p>
            <a:r>
              <a:rPr lang="en-US" dirty="0"/>
              <a:t>In contrast, </a:t>
            </a:r>
            <a:r>
              <a:rPr lang="en-US" b="1" dirty="0"/>
              <a:t>dynamic analysis </a:t>
            </a:r>
            <a:r>
              <a:rPr lang="en-US" dirty="0"/>
              <a:t>involves analyzing your code during runtime</a:t>
            </a:r>
          </a:p>
          <a:p>
            <a:pPr lvl="1"/>
            <a:r>
              <a:rPr lang="en-US" dirty="0"/>
              <a:t>Example: Code Coverage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32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5514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to using Linters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dirty="0"/>
              <a:t>Quicker, and more powerful code reviews</a:t>
            </a:r>
          </a:p>
          <a:p>
            <a:pPr lvl="1"/>
            <a:r>
              <a:rPr lang="en-US" dirty="0"/>
              <a:t>People can spend more time on the internals rather than the structure</a:t>
            </a:r>
          </a:p>
          <a:p>
            <a:pPr lvl="1"/>
            <a:endParaRPr lang="en-US" dirty="0"/>
          </a:p>
          <a:p>
            <a:r>
              <a:rPr lang="en-US" dirty="0"/>
              <a:t>Consistent code quality</a:t>
            </a:r>
          </a:p>
          <a:p>
            <a:endParaRPr lang="en-US" dirty="0"/>
          </a:p>
          <a:p>
            <a:r>
              <a:rPr lang="en-US" dirty="0"/>
              <a:t>Enforcement of organizational standards</a:t>
            </a:r>
          </a:p>
          <a:p>
            <a:endParaRPr lang="en-US" dirty="0"/>
          </a:p>
          <a:p>
            <a:r>
              <a:rPr lang="en-US" dirty="0"/>
              <a:t>No need to stress about your formatting anymore</a:t>
            </a:r>
          </a:p>
          <a:p>
            <a:pPr lvl="1"/>
            <a:r>
              <a:rPr lang="en-US" dirty="0"/>
              <a:t>E.g. a misplaced curly brace `{` on line 10,276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33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42540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for Errors/Exceptions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96692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Errors are internal, exceptions are external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Check and sanitize input before doing anything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Setup default values if needed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Raise exceptions when you can’t set a default value.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Put try/catch around crucial pieces of code that can potentially crash your program, not everything.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These are areas that you have less control over (e.g. making a network request, file manipulations, using source-code from dependencies, running external programs).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34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83920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for Errors/Exceptions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96692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When building large programs, remember where you generate and catch exceptions. Sometimes you maybe duplicating code and some catch code becomes unreachable as you always catch an exception earlier.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Logging is incredibly important for debugging errors!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35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33625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for Errors/Exceptions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These become really important in weakly-typed languages!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You can pass any type as any parameter in any method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Exceptions will help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36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5187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for Errors/Exceptions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Keyboard Interrupts (</a:t>
            </a:r>
            <a:r>
              <a:rPr lang="en-US" altLang="en-US" dirty="0" err="1">
                <a:ea typeface="ＭＳ Ｐゴシック" panose="020B0600070205080204" pitchFamily="34" charset="-128"/>
              </a:rPr>
              <a:t>Ctrl+C</a:t>
            </a:r>
            <a:r>
              <a:rPr lang="en-US" altLang="en-US" dirty="0">
                <a:ea typeface="ＭＳ Ｐゴシック" panose="020B0600070205080204" pitchFamily="34" charset="-128"/>
              </a:rPr>
              <a:t>)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There are cases where you absolutely want to catch these to prevent data corruption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general, don’t catch these or make a routine that handles a special shutdown on (</a:t>
            </a:r>
            <a:r>
              <a:rPr lang="en-US" altLang="en-US" dirty="0" err="1">
                <a:ea typeface="ＭＳ Ｐゴシック" panose="020B0600070205080204" pitchFamily="34" charset="-128"/>
              </a:rPr>
              <a:t>Ctrl+C</a:t>
            </a:r>
            <a:r>
              <a:rPr lang="en-US" altLang="en-US" dirty="0">
                <a:ea typeface="ＭＳ Ｐゴシック" panose="020B0600070205080204" pitchFamily="34" charset="-128"/>
              </a:rPr>
              <a:t>) for critical pieces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37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73968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74" y="1168401"/>
            <a:ext cx="10515600" cy="439975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 way to build classes with arbitrary or unknown types (classes) that may or may not need to define a particular set of methods.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Useful for building methods that can be used on any type (think the max method which uses the Comparable interface)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Useful for building classes that perform operations on or with a parametrized type (superhero/villain example)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38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26119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1012129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Bounds for Type Parameters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538" y="1168401"/>
            <a:ext cx="10515600" cy="5025922"/>
          </a:xfrm>
        </p:spPr>
        <p:txBody>
          <a:bodyPr>
            <a:normAutofit lnSpcReduction="10000"/>
          </a:bodyPr>
          <a:lstStyle/>
          <a:p>
            <a:pPr marL="392113" marR="0" lvl="0" indent="-293688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/>
              <a:defRPr/>
            </a:pP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 panose="020B0600070205080204" pitchFamily="34" charset="-128"/>
                <a:cs typeface="+mn-cs"/>
              </a:rPr>
              <a:t>A bound on a type may be a class name (rather than an interface name)</a:t>
            </a:r>
          </a:p>
          <a:p>
            <a:pPr marL="782638" marR="0" lvl="1" indent="-260350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tabLst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 panose="020B0600070205080204" pitchFamily="34" charset="-128"/>
              </a:rPr>
              <a:t>Then only descendent classes of the bounding class may be plugged in for the type parameters:</a:t>
            </a:r>
          </a:p>
          <a:p>
            <a:pPr marL="782638" marR="0" lvl="1" indent="-260350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tabLst/>
              <a:defRPr/>
            </a:pP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 panose="020B0600070205080204" pitchFamily="34" charset="-128"/>
            </a:endParaRPr>
          </a:p>
          <a:p>
            <a:pPr marL="782638" marR="0" lvl="1" indent="-260350" algn="ctr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25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</a:rPr>
              <a:t>public class </a:t>
            </a:r>
            <a:r>
              <a:rPr kumimoji="0" lang="en-US" altLang="en-US" sz="19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</a:rPr>
              <a:t>ExClass</a:t>
            </a:r>
            <a:r>
              <a:rPr kumimoji="0" lang="en-US" alt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</a:rPr>
              <a:t>&lt;T extends Class1&gt;</a:t>
            </a:r>
          </a:p>
          <a:p>
            <a:pPr marL="392113" marR="0" lvl="0" indent="-293688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/>
              <a:defRPr/>
            </a:pP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 panose="020B0600070205080204" pitchFamily="34" charset="-128"/>
                <a:cs typeface="+mn-cs"/>
              </a:rPr>
              <a:t>A bounds expression may contain multiple interfaces and up to one class.</a:t>
            </a:r>
          </a:p>
          <a:p>
            <a:pPr marL="392113" marR="0" lvl="0" indent="-293688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/>
              <a:defRPr/>
            </a:pPr>
            <a:endParaRPr kumimoji="0" lang="en-US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 panose="020B0600070205080204" pitchFamily="34" charset="-128"/>
              <a:cs typeface="+mn-cs"/>
            </a:endParaRPr>
          </a:p>
          <a:p>
            <a:pPr marL="392113" marR="0" lvl="0" indent="-293688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/>
              <a:defRPr/>
            </a:pP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 panose="020B0600070205080204" pitchFamily="34" charset="-128"/>
                <a:cs typeface="+mn-cs"/>
              </a:rPr>
              <a:t>If there is more than one type parameter, the syntax is as follows:</a:t>
            </a:r>
          </a:p>
          <a:p>
            <a:pPr marL="782638" marR="0" lvl="1" indent="-260350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25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endParaRPr kumimoji="0" lang="en-US" altLang="en-US" sz="1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782638" marR="0" lvl="1" indent="-260350" algn="l" defTabSz="414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25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</a:rPr>
              <a:t>public class Two&lt;T1 extends Class1, T2 extends Class2 &amp; Comparable&gt;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39</a:t>
            </a:fld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92877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1012129" cy="1325563"/>
          </a:xfrm>
        </p:spPr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40</a:t>
            </a:fld>
            <a:r>
              <a:rPr lang="en-CA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D9390E-2D69-457A-8A63-8012338D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FA306D2D-5583-40F8-B92D-FC2433F8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7" y="1453357"/>
            <a:ext cx="8569325" cy="459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tabLst>
                <a:tab pos="355600" algn="l"/>
                <a:tab pos="723900" algn="l"/>
                <a:tab pos="1079500" algn="l"/>
              </a:tabLst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The following is the max function from JDK 1.4 </a:t>
            </a:r>
            <a:r>
              <a:rPr lang="en-US" altLang="en-US" sz="2000" b="1" u="sng" dirty="0">
                <a:latin typeface="Arial" panose="020B0604020202020204" pitchFamily="34" charset="0"/>
              </a:rPr>
              <a:t>Collections</a:t>
            </a:r>
            <a:r>
              <a:rPr lang="en-US" altLang="en-US" sz="2000" b="1" dirty="0">
                <a:latin typeface="Arial" panose="020B0604020202020204" pitchFamily="34" charset="0"/>
              </a:rPr>
              <a:t> class:</a:t>
            </a:r>
          </a:p>
          <a:p>
            <a:pPr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00" b="1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1800" b="1" dirty="0">
                <a:latin typeface="Courier New" panose="02070309020205020404" pitchFamily="49" charset="0"/>
              </a:rPr>
              <a:t> Object max(Collection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coll</a:t>
            </a:r>
            <a:r>
              <a:rPr lang="en-US" altLang="en-US" sz="1800" b="1" dirty="0">
                <a:latin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Iterator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coll.iterator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if</a:t>
            </a:r>
            <a:r>
              <a:rPr lang="en-US" altLang="en-US" sz="1800" b="1" dirty="0">
                <a:latin typeface="Courier New" panose="02070309020205020404" pitchFamily="49" charset="0"/>
              </a:rPr>
              <a:t>(!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itr.hasNext</a:t>
            </a:r>
            <a:r>
              <a:rPr lang="en-US" altLang="en-US" sz="1800" b="1" dirty="0">
                <a:latin typeface="Courier New" panose="02070309020205020404" pitchFamily="49" charset="0"/>
              </a:rPr>
              <a:t>())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	return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Comparable max = (Comparable)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itr.next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while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itr.hasNext</a:t>
            </a:r>
            <a:r>
              <a:rPr lang="en-US" altLang="en-US" sz="1800" b="1" dirty="0">
                <a:latin typeface="Courier New" panose="02070309020205020404" pitchFamily="49" charset="0"/>
              </a:rPr>
              <a:t>())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Object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itr.next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	if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max.compareTo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) &lt; 0)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	max = (Comparable)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return</a:t>
            </a:r>
            <a:r>
              <a:rPr lang="en-US" altLang="en-US" sz="1800" b="1" dirty="0">
                <a:latin typeface="Courier New" panose="02070309020205020404" pitchFamily="49" charset="0"/>
              </a:rPr>
              <a:t> max;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endParaRPr lang="en-US" altLang="en-US" sz="600" b="1" dirty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5AC9BB54-4D92-4420-9C28-A540F9048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4" y="2477294"/>
            <a:ext cx="2844800" cy="342106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12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When Sun engineers wanted to re-implement the max function to use generics in Java 5.0, what was the result?</a:t>
            </a:r>
          </a:p>
        </p:txBody>
      </p:sp>
    </p:spTree>
    <p:extLst>
      <p:ext uri="{BB962C8B-B14F-4D97-AF65-F5344CB8AC3E}">
        <p14:creationId xmlns:p14="http://schemas.microsoft.com/office/powerpoint/2010/main" xmlns="" val="332690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7162"/>
            <a:ext cx="11012129" cy="1325563"/>
          </a:xfrm>
        </p:spPr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CS321: Advanced Programming Techniques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4927E-2439-42C0-9720-7BBCA09BF46F}" type="slidenum">
              <a:rPr lang="en-CA" smtClean="0"/>
              <a:pPr/>
              <a:t>41</a:t>
            </a:fld>
            <a:r>
              <a:rPr lang="en-CA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D9390E-2D69-457A-8A63-8012338D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03CC276D-5B37-4716-AE20-1AA4B3D1D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164" y="1168401"/>
            <a:ext cx="8569325" cy="488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tabLst>
                <a:tab pos="355600" algn="l"/>
                <a:tab pos="723900" algn="l"/>
                <a:tab pos="1079500" algn="l"/>
              </a:tabLst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tabLst>
                <a:tab pos="355600" algn="l"/>
                <a:tab pos="723900" algn="l"/>
                <a:tab pos="1079500" algn="l"/>
              </a:tabLst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The following is the JDK 5.0 max function (</a:t>
            </a:r>
            <a:r>
              <a:rPr lang="en-US" altLang="en-US" sz="2000" b="1" u="sng" dirty="0">
                <a:latin typeface="Arial" panose="020B0604020202020204" pitchFamily="34" charset="0"/>
              </a:rPr>
              <a:t>Collections</a:t>
            </a:r>
            <a:r>
              <a:rPr lang="en-US" altLang="en-US" sz="2000" b="1" dirty="0">
                <a:latin typeface="Arial" panose="020B0604020202020204" pitchFamily="34" charset="0"/>
              </a:rPr>
              <a:t> class):</a:t>
            </a:r>
          </a:p>
          <a:p>
            <a:pPr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00" b="1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1800" b="1" dirty="0">
                <a:latin typeface="Courier New" panose="02070309020205020404" pitchFamily="49" charset="0"/>
              </a:rPr>
              <a:t> &lt;T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en-US" sz="1800" b="1" dirty="0">
                <a:latin typeface="Courier New" panose="02070309020205020404" pitchFamily="49" charset="0"/>
              </a:rPr>
              <a:t> Object &amp; Comparable&lt;?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super</a:t>
            </a:r>
            <a:r>
              <a:rPr lang="en-US" altLang="en-US" sz="1800" b="1" dirty="0">
                <a:latin typeface="Courier New" panose="02070309020205020404" pitchFamily="49" charset="0"/>
              </a:rPr>
              <a:t> T&gt;&gt;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T max(Collection&lt;?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en-US" sz="1800" b="1" dirty="0">
                <a:latin typeface="Courier New" panose="02070309020205020404" pitchFamily="49" charset="0"/>
              </a:rPr>
              <a:t> T&gt;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coll</a:t>
            </a:r>
            <a:r>
              <a:rPr lang="en-US" altLang="en-US" sz="1800" b="1" dirty="0">
                <a:latin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Iterator&lt;?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en-US" sz="1800" b="1" dirty="0">
                <a:latin typeface="Courier New" panose="02070309020205020404" pitchFamily="49" charset="0"/>
              </a:rPr>
              <a:t> T&gt;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coll.iterator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if</a:t>
            </a:r>
            <a:r>
              <a:rPr lang="en-US" altLang="en-US" sz="1800" b="1" dirty="0">
                <a:latin typeface="Courier New" panose="02070309020205020404" pitchFamily="49" charset="0"/>
              </a:rPr>
              <a:t>(!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itr.hasNext</a:t>
            </a:r>
            <a:r>
              <a:rPr lang="en-US" altLang="en-US" sz="1800" b="1" dirty="0">
                <a:latin typeface="Courier New" panose="02070309020205020404" pitchFamily="49" charset="0"/>
              </a:rPr>
              <a:t>())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	return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T max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itr.next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while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itr.hasNext</a:t>
            </a:r>
            <a:r>
              <a:rPr lang="en-US" altLang="en-US" sz="1800" b="1" dirty="0">
                <a:latin typeface="Courier New" panose="02070309020205020404" pitchFamily="49" charset="0"/>
              </a:rPr>
              <a:t>())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itr.next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	if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max.compareTo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) &lt; 0) {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	max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curr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	return</a:t>
            </a:r>
            <a:r>
              <a:rPr lang="en-US" altLang="en-US" sz="1800" b="1" dirty="0">
                <a:latin typeface="Courier New" panose="02070309020205020404" pitchFamily="49" charset="0"/>
              </a:rPr>
              <a:t> max;</a:t>
            </a:r>
          </a:p>
          <a:p>
            <a:pPr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22C667BB-BE1A-4E42-9202-F22A6A77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289" y="4929188"/>
            <a:ext cx="3779837" cy="13319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 algn="ctr">
              <a:lnSpc>
                <a:spcPct val="12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For other interesting Generic examples, go to java.utils.Collections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xmlns="" id="{26416BC4-D089-4138-8185-34999288B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214" y="1689101"/>
            <a:ext cx="8101012" cy="611187"/>
          </a:xfrm>
          <a:prstGeom prst="rect">
            <a:avLst/>
          </a:prstGeom>
          <a:solidFill>
            <a:srgbClr val="D4E9F4">
              <a:alpha val="10196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</a:pPr>
            <a:endParaRPr lang="he-IL" altLang="en-US" sz="2400">
              <a:solidFill>
                <a:srgbClr val="4D4D4D"/>
              </a:solidFill>
              <a:latin typeface="Arial" panose="020B0604020202020204" pitchFamily="34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xmlns="" id="{ADBF95C5-E277-4203-9C8D-C04057A6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2751" y="2157413"/>
            <a:ext cx="1943100" cy="647700"/>
          </a:xfrm>
          <a:prstGeom prst="wedgeEllipseCallout">
            <a:avLst>
              <a:gd name="adj1" fmla="val -163806"/>
              <a:gd name="adj2" fmla="val -79903"/>
            </a:avLst>
          </a:prstGeom>
          <a:solidFill>
            <a:srgbClr val="E6F70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>
              <a:spcAft>
                <a:spcPts val="1288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900">
                <a:solidFill>
                  <a:srgbClr val="000000"/>
                </a:solidFill>
                <a:latin typeface="Times" panose="02020603050405020304" pitchFamily="18" charset="0"/>
              </a:defRPr>
            </a:lvl1pPr>
            <a:lvl2pPr marL="742950" indent="-285750">
              <a:spcAft>
                <a:spcPts val="1025"/>
              </a:spcAft>
              <a:buClr>
                <a:srgbClr val="000000"/>
              </a:buClr>
              <a:buSzPct val="75000"/>
              <a:buFont typeface="StarBats" charset="0"/>
              <a:buChar char=""/>
              <a:defRPr sz="2500">
                <a:solidFill>
                  <a:srgbClr val="000000"/>
                </a:solidFill>
                <a:latin typeface="Times" panose="02020603050405020304" pitchFamily="18" charset="0"/>
              </a:defRPr>
            </a:lvl2pPr>
            <a:lvl3pPr marL="1143000" indent="-228600">
              <a:spcAft>
                <a:spcPts val="775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 sz="2200">
                <a:solidFill>
                  <a:srgbClr val="000000"/>
                </a:solidFill>
                <a:latin typeface="Times" panose="02020603050405020304" pitchFamily="18" charset="0"/>
              </a:defRPr>
            </a:lvl3pPr>
            <a:lvl4pPr marL="1600200" indent="-228600">
              <a:spcAft>
                <a:spcPts val="513"/>
              </a:spcAft>
              <a:buClr>
                <a:srgbClr val="000000"/>
              </a:buClr>
              <a:buSzPct val="75000"/>
              <a:buFont typeface="StarBats" charset="0"/>
              <a:buChar char="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4pPr>
            <a:lvl5pPr marL="2057400" indent="-228600"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250"/>
              </a:spcAft>
              <a:buClr>
                <a:srgbClr val="000000"/>
              </a:buClr>
              <a:buSzPct val="45000"/>
              <a:buFont typeface="StarBats" charset="0"/>
              <a:buChar char="&quot;"/>
              <a:defRPr>
                <a:solidFill>
                  <a:srgbClr val="000000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1">
                <a:solidFill>
                  <a:srgbClr val="4D4D4D"/>
                </a:solidFill>
                <a:latin typeface="Arial" panose="020B0604020202020204" pitchFamily="34" charset="0"/>
              </a:rPr>
              <a:t>Look at the &amp;</a:t>
            </a:r>
          </a:p>
        </p:txBody>
      </p:sp>
    </p:spTree>
    <p:extLst>
      <p:ext uri="{BB962C8B-B14F-4D97-AF65-F5344CB8AC3E}">
        <p14:creationId xmlns:p14="http://schemas.microsoft.com/office/powerpoint/2010/main" xmlns="" val="15166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eye_tracker_presentation" id="{00ED1D97-A04B-46A0-BB71-88655A6B057F}" vid="{F36189FA-3966-4852-951E-5734674D1C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32254</TotalTime>
  <Words>2332</Words>
  <Application>Microsoft Office PowerPoint</Application>
  <PresentationFormat>Custom</PresentationFormat>
  <Paragraphs>457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Review of Useful Techniques</vt:lpstr>
      <vt:lpstr>Testing Your Code</vt:lpstr>
      <vt:lpstr>Basics</vt:lpstr>
      <vt:lpstr>Basics</vt:lpstr>
      <vt:lpstr>Basics</vt:lpstr>
      <vt:lpstr>Object-Oriented Programming</vt:lpstr>
      <vt:lpstr>Java</vt:lpstr>
      <vt:lpstr>Object-oriented Programming</vt:lpstr>
      <vt:lpstr>Objects</vt:lpstr>
      <vt:lpstr>Objects</vt:lpstr>
      <vt:lpstr>Object Encapsulation</vt:lpstr>
      <vt:lpstr>Object Encapsulation</vt:lpstr>
      <vt:lpstr>Object Encapsulation</vt:lpstr>
      <vt:lpstr>Object Encapsulation</vt:lpstr>
      <vt:lpstr>OOP Languages</vt:lpstr>
      <vt:lpstr>Methods common to all objects</vt:lpstr>
      <vt:lpstr>OOP Languages</vt:lpstr>
      <vt:lpstr>OOP Languages</vt:lpstr>
      <vt:lpstr>OOP Languages</vt:lpstr>
      <vt:lpstr> Is-a is NOT Has-a </vt:lpstr>
      <vt:lpstr> is-a-kind-of  is NOT  is-a  either</vt:lpstr>
      <vt:lpstr>Generalization VS  Classification </vt:lpstr>
      <vt:lpstr>Abstract Classes Versus Interfaces</vt:lpstr>
      <vt:lpstr>Key Acronyms: DRY</vt:lpstr>
      <vt:lpstr>Key Acronyms: SOLID</vt:lpstr>
      <vt:lpstr>UML, &amp; Version Control Systems</vt:lpstr>
      <vt:lpstr>Inner and Anonymous Classes/Methods</vt:lpstr>
      <vt:lpstr>Java Iterators (in java.util)</vt:lpstr>
      <vt:lpstr>Using an Iterator</vt:lpstr>
      <vt:lpstr>Preconditions</vt:lpstr>
      <vt:lpstr>Why use Iterators</vt:lpstr>
      <vt:lpstr>Linting (or Static Analysis)</vt:lpstr>
      <vt:lpstr>Advantages to using Linters</vt:lpstr>
      <vt:lpstr>Key Points for Errors/Exceptions</vt:lpstr>
      <vt:lpstr>Key Points for Errors/Exceptions</vt:lpstr>
      <vt:lpstr>Key Points for Errors/Exceptions</vt:lpstr>
      <vt:lpstr>Key Points for Errors/Exceptions</vt:lpstr>
      <vt:lpstr>Generics</vt:lpstr>
      <vt:lpstr>Bounds for Type Parameters</vt:lpstr>
      <vt:lpstr>Slide 40</vt:lpstr>
      <vt:lpstr>Slide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Eye-tracking for Neuroscience</dc:title>
  <dc:creator>Gregory</dc:creator>
  <cp:lastModifiedBy>Greg</cp:lastModifiedBy>
  <cp:revision>252</cp:revision>
  <dcterms:created xsi:type="dcterms:W3CDTF">2016-10-21T00:49:29Z</dcterms:created>
  <dcterms:modified xsi:type="dcterms:W3CDTF">2026-03-08T23:46:03Z</dcterms:modified>
</cp:coreProperties>
</file>