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316" r:id="rId4"/>
    <p:sldId id="315" r:id="rId5"/>
    <p:sldId id="317" r:id="rId6"/>
    <p:sldId id="319" r:id="rId7"/>
    <p:sldId id="297" r:id="rId8"/>
    <p:sldId id="320" r:id="rId9"/>
    <p:sldId id="321" r:id="rId10"/>
    <p:sldId id="322" r:id="rId11"/>
    <p:sldId id="32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egory" initials="G" lastIdx="1" clrIdx="0">
    <p:extLst>
      <p:ext uri="{19B8F6BF-5375-455C-9EA6-DF929625EA0E}">
        <p15:presenceInfo xmlns="" xmlns:p15="http://schemas.microsoft.com/office/powerpoint/2012/main" userId="Grego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6430A0"/>
    <a:srgbClr val="664A97"/>
    <a:srgbClr val="6A42AE"/>
    <a:srgbClr val="6B34AE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4" autoAdjust="0"/>
    <p:restoredTop sz="85312" autoAdjust="0"/>
  </p:normalViewPr>
  <p:slideViewPr>
    <p:cSldViewPr snapToGrid="0">
      <p:cViewPr varScale="1">
        <p:scale>
          <a:sx n="87" d="100"/>
          <a:sy n="87" d="100"/>
        </p:scale>
        <p:origin x="-956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83E9D-07AB-4C6D-BFD0-47E805C6B3D4}" type="datetimeFigureOut">
              <a:rPr lang="en-CA" smtClean="0"/>
              <a:pPr/>
              <a:t>2026-03-17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20841C-25C9-4C0C-A7FA-C4A363D14F5A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="" xmlns:p14="http://schemas.microsoft.com/office/powerpoint/2010/main" val="423752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20841C-25C9-4C0C-A7FA-C4A363D14F5A}" type="slidenum">
              <a:rPr lang="en-CA" smtClean="0"/>
              <a:pPr/>
              <a:t>1</a:t>
            </a:fld>
            <a:endParaRPr lang="en-CA"/>
          </a:p>
        </p:txBody>
      </p:sp>
    </p:spTree>
    <p:extLst>
      <p:ext uri="{BB962C8B-B14F-4D97-AF65-F5344CB8AC3E}">
        <p14:creationId xmlns="" xmlns:p14="http://schemas.microsoft.com/office/powerpoint/2010/main" val="2340334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="" xmlns:p14="http://schemas.microsoft.com/office/powerpoint/2010/main" val="190056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7162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9755979" y="6575422"/>
            <a:ext cx="1597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Fall 2016</a:t>
            </a:r>
            <a:endParaRPr lang="en-CA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387" y="6573836"/>
            <a:ext cx="2986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CA"/>
              <a:t>CS 499: Honors Dissertation</a:t>
            </a:r>
            <a:endParaRPr lang="en-CA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6573836"/>
            <a:ext cx="798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174927E-2439-42C0-9720-7BBCA09BF46F}" type="slidenum">
              <a:rPr lang="en-CA" smtClean="0"/>
              <a:pPr/>
              <a:t>‹#›</a:t>
            </a:fld>
            <a:r>
              <a:rPr lang="en-CA" dirty="0"/>
              <a:t> / 32</a:t>
            </a:r>
          </a:p>
        </p:txBody>
      </p:sp>
    </p:spTree>
    <p:extLst>
      <p:ext uri="{BB962C8B-B14F-4D97-AF65-F5344CB8AC3E}">
        <p14:creationId xmlns="" xmlns:p14="http://schemas.microsoft.com/office/powerpoint/2010/main" val="182237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="" xmlns:p14="http://schemas.microsoft.com/office/powerpoint/2010/main" val="3411672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="" xmlns:p14="http://schemas.microsoft.com/office/powerpoint/2010/main" val="1093008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7162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="" xmlns:p14="http://schemas.microsoft.com/office/powerpoint/2010/main" val="1087924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="" xmlns:p14="http://schemas.microsoft.com/office/powerpoint/2010/main" val="3802387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="" xmlns:p14="http://schemas.microsoft.com/office/powerpoint/2010/main" val="4234091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="" xmlns:p14="http://schemas.microsoft.com/office/powerpoint/2010/main" val="418942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="" xmlns:p14="http://schemas.microsoft.com/office/powerpoint/2010/main" val="3252977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="" xmlns:p14="http://schemas.microsoft.com/office/powerpoint/2010/main" val="372295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1555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938" y="11699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55979" y="6575422"/>
            <a:ext cx="1597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Fall 2016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387" y="6573836"/>
            <a:ext cx="2986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CA"/>
              <a:t>CS 499: Honors Dissertation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6573836"/>
            <a:ext cx="798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174927E-2439-42C0-9720-7BBCA09BF46F}" type="slidenum">
              <a:rPr lang="en-CA" smtClean="0"/>
              <a:pPr/>
              <a:t>‹#›</a:t>
            </a:fld>
            <a:r>
              <a:rPr lang="en-CA" dirty="0"/>
              <a:t> / 32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8538" y="0"/>
            <a:ext cx="838200" cy="88676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3006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292100" y="-254000"/>
            <a:ext cx="12601542" cy="2578949"/>
          </a:xfrm>
          <a:prstGeom prst="rect">
            <a:avLst/>
          </a:prstGeom>
          <a:solidFill>
            <a:srgbClr val="664A97"/>
          </a:solidFill>
          <a:ln w="114300">
            <a:solidFill>
              <a:srgbClr val="64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2" y="10747"/>
            <a:ext cx="9144000" cy="1916376"/>
          </a:xfrm>
        </p:spPr>
        <p:txBody>
          <a:bodyPr>
            <a:normAutofit/>
          </a:bodyPr>
          <a:lstStyle/>
          <a:p>
            <a:r>
              <a:rPr lang="en-US" altLang="en-US" sz="6000" dirty="0" smtClean="0"/>
              <a:t>Visitor</a:t>
            </a:r>
            <a:r>
              <a:rPr lang="en-US" altLang="en-US" dirty="0" smtClean="0"/>
              <a:t> </a:t>
            </a:r>
            <a:r>
              <a:rPr lang="en-US" altLang="en-US" sz="6000" dirty="0"/>
              <a:t>Pattern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6512" y="2418735"/>
            <a:ext cx="9575800" cy="4412855"/>
          </a:xfrm>
        </p:spPr>
        <p:txBody>
          <a:bodyPr>
            <a:normAutofit/>
          </a:bodyPr>
          <a:lstStyle/>
          <a:p>
            <a:endParaRPr lang="en-CA" dirty="0"/>
          </a:p>
          <a:p>
            <a:r>
              <a:rPr lang="en-CA" dirty="0"/>
              <a:t>CS321: Advanced Programming Techniques</a:t>
            </a:r>
          </a:p>
          <a:p>
            <a:r>
              <a:rPr lang="en-CA" dirty="0"/>
              <a:t>Prof: Gregory Mierzwinski</a:t>
            </a:r>
            <a:endParaRPr lang="en-CA" baseline="30000" dirty="0"/>
          </a:p>
          <a:p>
            <a:endParaRPr lang="en-CA" dirty="0"/>
          </a:p>
        </p:txBody>
      </p:sp>
      <p:pic>
        <p:nvPicPr>
          <p:cNvPr id="13" name="Picture 8" descr="http://osiris.ubishops.ca/~alussier/images/transparentlogo_bu.png">
            <a:extLst>
              <a:ext uri="{FF2B5EF4-FFF2-40B4-BE49-F238E27FC236}">
                <a16:creationId xmlns="" xmlns:a16="http://schemas.microsoft.com/office/drawing/2014/main" id="{CCB9A035-2F1C-4B96-A5DB-70B72D6E4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514" y="4847458"/>
            <a:ext cx="4770403" cy="167647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177077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Visitor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114412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80000"/>
              <a:buFont typeface="Symbol" panose="05050102010706020507" pitchFamily="18" charset="2"/>
              <a:buNone/>
              <a:tabLst/>
              <a:defRPr/>
            </a:pPr>
            <a:r>
              <a:rPr kumimoji="0" lang="en-CA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Problem: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80000"/>
              <a:buFont typeface="Symbol" panose="05050102010706020507" pitchFamily="18" charset="2"/>
              <a:buNone/>
              <a:tabLst/>
              <a:defRPr/>
            </a:pPr>
            <a:r>
              <a:rPr lang="en-CA" altLang="en-US" sz="24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CA" altLang="en-US" sz="24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We want to iterate over a set of some objects and perform some operation using them or modifying them.</a:t>
            </a:r>
            <a:endParaRPr kumimoji="0" lang="en-US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2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5120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Visitor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114412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80000"/>
              <a:buFont typeface="Symbol" panose="05050102010706020507" pitchFamily="18" charset="2"/>
              <a:buNone/>
              <a:tabLst/>
              <a:defRPr/>
            </a:pPr>
            <a:r>
              <a:rPr kumimoji="0" lang="en-CA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Potential Solution: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80000"/>
              <a:buFont typeface="Symbol" panose="05050102010706020507" pitchFamily="18" charset="2"/>
              <a:buNone/>
              <a:tabLst/>
              <a:defRPr/>
            </a:pPr>
            <a:r>
              <a:rPr lang="en-CA" altLang="en-US" sz="24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endParaRPr kumimoji="0" lang="en-US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3</a:t>
            </a:fld>
            <a:r>
              <a:rPr lang="en-CA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150" y="1865376"/>
            <a:ext cx="368686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b="1" dirty="0" smtClean="0"/>
              <a:t>interface Robot {</a:t>
            </a:r>
          </a:p>
          <a:p>
            <a:r>
              <a:rPr lang="en-CA" b="1" dirty="0" smtClean="0"/>
              <a:t>    public void recharge();</a:t>
            </a:r>
          </a:p>
          <a:p>
            <a:r>
              <a:rPr lang="en-CA" b="1" dirty="0" smtClean="0"/>
              <a:t>}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2250" y="2968725"/>
            <a:ext cx="3686861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b="1" dirty="0" smtClean="0"/>
              <a:t>class Bender implements Robot {</a:t>
            </a:r>
          </a:p>
          <a:p>
            <a:r>
              <a:rPr lang="en-CA" b="1" dirty="0" smtClean="0"/>
              <a:t>    public void recharge() {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</a:t>
            </a:r>
            <a:r>
              <a:rPr lang="en-CA" b="1" dirty="0" err="1" smtClean="0"/>
              <a:t>this.drinkBeer</a:t>
            </a:r>
            <a:r>
              <a:rPr lang="en-CA" b="1" dirty="0" smtClean="0"/>
              <a:t>();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}</a:t>
            </a:r>
            <a:endParaRPr lang="en-CA" b="1" dirty="0" smtClean="0"/>
          </a:p>
          <a:p>
            <a:r>
              <a:rPr lang="en-CA" b="1" dirty="0" smtClean="0"/>
              <a:t>}</a:t>
            </a:r>
          </a:p>
          <a:p>
            <a:endParaRPr lang="en-CA" b="1" dirty="0" smtClean="0"/>
          </a:p>
          <a:p>
            <a:r>
              <a:rPr lang="en-CA" b="1" dirty="0" smtClean="0"/>
              <a:t>class </a:t>
            </a:r>
            <a:r>
              <a:rPr lang="en-CA" b="1" dirty="0" err="1" smtClean="0"/>
              <a:t>Flexo</a:t>
            </a:r>
            <a:r>
              <a:rPr lang="en-CA" b="1" dirty="0" smtClean="0"/>
              <a:t> implements Robot {</a:t>
            </a:r>
          </a:p>
          <a:p>
            <a:r>
              <a:rPr lang="en-CA" b="1" dirty="0" smtClean="0"/>
              <a:t>    public void recharge() {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</a:t>
            </a:r>
            <a:r>
              <a:rPr lang="en-CA" b="1" dirty="0" err="1" smtClean="0"/>
              <a:t>this.drinkEvilBeer</a:t>
            </a:r>
            <a:r>
              <a:rPr lang="en-CA" b="1" dirty="0" smtClean="0"/>
              <a:t>();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}</a:t>
            </a:r>
            <a:endParaRPr lang="en-CA" b="1" dirty="0" smtClean="0"/>
          </a:p>
          <a:p>
            <a:r>
              <a:rPr lang="en-CA" b="1" dirty="0" smtClean="0"/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1651" y="1886106"/>
            <a:ext cx="6803135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b="1" dirty="0" smtClean="0"/>
              <a:t>class </a:t>
            </a:r>
            <a:r>
              <a:rPr lang="en-CA" b="1" dirty="0" err="1" smtClean="0"/>
              <a:t>IterateRobots</a:t>
            </a:r>
            <a:r>
              <a:rPr lang="en-CA" b="1" dirty="0" smtClean="0"/>
              <a:t> {</a:t>
            </a:r>
          </a:p>
          <a:p>
            <a:r>
              <a:rPr lang="en-CA" b="1" dirty="0" smtClean="0"/>
              <a:t>    public static void main(String[] </a:t>
            </a:r>
            <a:r>
              <a:rPr lang="en-CA" b="1" dirty="0" err="1" smtClean="0"/>
              <a:t>args</a:t>
            </a:r>
            <a:r>
              <a:rPr lang="en-CA" b="1" dirty="0" smtClean="0"/>
              <a:t>) {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</a:t>
            </a:r>
            <a:r>
              <a:rPr lang="en-CA" b="1" dirty="0" err="1" smtClean="0"/>
              <a:t>ArrayList</a:t>
            </a:r>
            <a:r>
              <a:rPr lang="en-CA" b="1" dirty="0" smtClean="0"/>
              <a:t>&lt;Robot&gt; robots = new </a:t>
            </a:r>
            <a:r>
              <a:rPr lang="en-CA" b="1" dirty="0" err="1" smtClean="0"/>
              <a:t>ArrayList</a:t>
            </a:r>
            <a:r>
              <a:rPr lang="en-CA" b="1" dirty="0" smtClean="0"/>
              <a:t>&lt;Robot&gt;();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</a:t>
            </a:r>
            <a:r>
              <a:rPr lang="en-CA" b="1" dirty="0" err="1" smtClean="0"/>
              <a:t>robots.add</a:t>
            </a:r>
            <a:r>
              <a:rPr lang="en-CA" b="1" dirty="0" smtClean="0"/>
              <a:t>(new Bender());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</a:t>
            </a:r>
            <a:r>
              <a:rPr lang="en-CA" b="1" dirty="0" err="1" smtClean="0"/>
              <a:t>robots.add</a:t>
            </a:r>
            <a:r>
              <a:rPr lang="en-CA" b="1" dirty="0" smtClean="0"/>
              <a:t>(new </a:t>
            </a:r>
            <a:r>
              <a:rPr lang="en-CA" b="1" dirty="0" err="1" smtClean="0"/>
              <a:t>Flexo</a:t>
            </a:r>
            <a:r>
              <a:rPr lang="en-CA" b="1" dirty="0" smtClean="0"/>
              <a:t>());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</a:t>
            </a:r>
            <a:r>
              <a:rPr lang="en-CA" b="1" dirty="0" err="1" smtClean="0"/>
              <a:t>Iterator</a:t>
            </a:r>
            <a:r>
              <a:rPr lang="en-CA" b="1" dirty="0" smtClean="0"/>
              <a:t> it = </a:t>
            </a:r>
            <a:r>
              <a:rPr lang="en-CA" b="1" dirty="0" err="1" smtClean="0"/>
              <a:t>robots.iterator</a:t>
            </a:r>
            <a:r>
              <a:rPr lang="en-CA" b="1" dirty="0" smtClean="0"/>
              <a:t>();</a:t>
            </a:r>
          </a:p>
          <a:p>
            <a:endParaRPr lang="en-CA" b="1" dirty="0" smtClean="0"/>
          </a:p>
          <a:p>
            <a:r>
              <a:rPr lang="en-CA" b="1" dirty="0" smtClean="0"/>
              <a:t> </a:t>
            </a:r>
            <a:r>
              <a:rPr lang="en-CA" b="1" dirty="0" smtClean="0"/>
              <a:t>       while (</a:t>
            </a:r>
            <a:r>
              <a:rPr lang="en-CA" b="1" dirty="0" err="1" smtClean="0"/>
              <a:t>it.hasNext</a:t>
            </a:r>
            <a:r>
              <a:rPr lang="en-CA" b="1" dirty="0" smtClean="0"/>
              <a:t>()) {</a:t>
            </a:r>
          </a:p>
          <a:p>
            <a:r>
              <a:rPr lang="en-CA" b="1" dirty="0" smtClean="0"/>
              <a:t>            Robot r = </a:t>
            </a:r>
            <a:r>
              <a:rPr lang="en-CA" b="1" dirty="0" err="1" smtClean="0"/>
              <a:t>it.next</a:t>
            </a:r>
            <a:r>
              <a:rPr lang="en-CA" b="1" dirty="0" smtClean="0"/>
              <a:t>();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    </a:t>
            </a:r>
            <a:r>
              <a:rPr lang="en-CA" b="1" dirty="0" err="1" smtClean="0"/>
              <a:t>r.refuel</a:t>
            </a:r>
            <a:r>
              <a:rPr lang="en-CA" b="1" dirty="0" smtClean="0"/>
              <a:t>();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}</a:t>
            </a:r>
          </a:p>
          <a:p>
            <a:endParaRPr lang="en-CA" b="1" dirty="0" smtClean="0"/>
          </a:p>
          <a:p>
            <a:r>
              <a:rPr lang="en-CA" b="1" dirty="0" smtClean="0"/>
              <a:t> </a:t>
            </a:r>
            <a:r>
              <a:rPr lang="en-CA" b="1" dirty="0" smtClean="0"/>
              <a:t>   }</a:t>
            </a:r>
            <a:endParaRPr lang="en-CA" b="1" dirty="0" smtClean="0"/>
          </a:p>
          <a:p>
            <a:r>
              <a:rPr lang="en-CA" b="1" dirty="0" smtClean="0"/>
              <a:t>}</a:t>
            </a:r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val="5120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Visitor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114412"/>
          </a:xfrm>
        </p:spPr>
        <p:txBody>
          <a:bodyPr>
            <a:norm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80000"/>
              <a:buNone/>
              <a:defRPr/>
            </a:pPr>
            <a:r>
              <a:rPr lang="en-CA" altLang="en-US" sz="24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What </a:t>
            </a:r>
            <a:r>
              <a:rPr lang="en-CA" altLang="en-US" sz="24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if we want to change which method we invoke?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80000"/>
              <a:buFont typeface="Symbol" panose="05050102010706020507" pitchFamily="18" charset="2"/>
              <a:buNone/>
              <a:tabLst/>
              <a:defRPr/>
            </a:pPr>
            <a:endParaRPr kumimoji="0" lang="en-CA" altLang="en-US" sz="24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80000"/>
              <a:buFont typeface="Symbol" panose="05050102010706020507" pitchFamily="18" charset="2"/>
              <a:buNone/>
              <a:tabLst/>
              <a:defRPr/>
            </a:pPr>
            <a:r>
              <a:rPr kumimoji="0" lang="en-CA" altLang="en-US" sz="24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What if</a:t>
            </a:r>
            <a:r>
              <a:rPr kumimoji="0" lang="en-CA" altLang="en-US" sz="240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we want to iterate over objects with different interfaces?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80000"/>
              <a:buFont typeface="Symbol" panose="05050102010706020507" pitchFamily="18" charset="2"/>
              <a:buNone/>
              <a:tabLst/>
              <a:defRPr/>
            </a:pPr>
            <a:endParaRPr lang="en-CA" altLang="en-US" sz="2400" kern="0" baseline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80000"/>
              <a:buFont typeface="Symbol" panose="05050102010706020507" pitchFamily="18" charset="2"/>
              <a:buNone/>
              <a:tabLst/>
              <a:defRPr/>
            </a:pPr>
            <a:r>
              <a:rPr kumimoji="0" lang="en-CA" altLang="en-US" sz="240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What if we want to run different methods depending on the object type?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80000"/>
              <a:buFont typeface="Symbol" panose="05050102010706020507" pitchFamily="18" charset="2"/>
              <a:buNone/>
              <a:tabLst/>
              <a:defRPr/>
            </a:pPr>
            <a:endParaRPr lang="en-CA" altLang="en-US" sz="2400" kern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80000"/>
              <a:buFont typeface="Symbol" panose="05050102010706020507" pitchFamily="18" charset="2"/>
              <a:buNone/>
              <a:tabLst/>
              <a:defRPr/>
            </a:pPr>
            <a:r>
              <a:rPr kumimoji="0" lang="en-CA" altLang="en-US" sz="2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We can use the Visitor Pattern!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4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51204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Visitor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114412"/>
          </a:xfrm>
        </p:spPr>
        <p:txBody>
          <a:bodyPr>
            <a:normAutofit/>
          </a:bodyPr>
          <a:lstStyle/>
          <a:p>
            <a:pPr marL="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80000"/>
              <a:buFont typeface="Symbol" panose="05050102010706020507" pitchFamily="18" charset="2"/>
              <a:buNone/>
              <a:tabLst/>
              <a:defRPr/>
            </a:pPr>
            <a:r>
              <a:rPr kumimoji="0" lang="en-CA" altLang="en-US" sz="240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Use a Visitor that contains the behaviour which handles the different object </a:t>
            </a:r>
            <a:r>
              <a:rPr lang="en-CA" altLang="en-US" sz="24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types.</a:t>
            </a:r>
            <a:endParaRPr lang="en-CA" altLang="en-US" sz="2400" kern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defRPr/>
            </a:pPr>
            <a:r>
              <a:rPr lang="en-CA" altLang="en-US" sz="24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Moves the behaviour to a single source for all object types.</a:t>
            </a:r>
          </a:p>
          <a:p>
            <a:pPr mar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defRPr/>
            </a:pPr>
            <a:r>
              <a:rPr lang="en-CA" altLang="en-US" sz="24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Objects implement one method, and expose any information needed by the visitor through public methods.</a:t>
            </a:r>
          </a:p>
          <a:p>
            <a:pPr mar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defRPr/>
            </a:pPr>
            <a:r>
              <a:rPr lang="en-CA" altLang="en-US" sz="24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Takes advantage of overloading to accomplish this.</a:t>
            </a:r>
          </a:p>
          <a:p>
            <a:pPr mar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defRPr/>
            </a:pPr>
            <a:endParaRPr lang="en-CA" altLang="en-US" sz="2400" kern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None/>
              <a:defRPr/>
            </a:pPr>
            <a:r>
              <a:rPr lang="en-CA" altLang="en-US" sz="24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Objects/Elements to visit implement an </a:t>
            </a:r>
            <a:r>
              <a:rPr lang="en-CA" altLang="en-US" sz="2400" b="1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accept</a:t>
            </a:r>
            <a:r>
              <a:rPr lang="en-CA" altLang="en-US" sz="24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method that accepts Visitor objects, and visitors implement a </a:t>
            </a:r>
            <a:r>
              <a:rPr lang="en-CA" altLang="en-US" sz="2400" b="1" kern="0" dirty="0" err="1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visitClass</a:t>
            </a:r>
            <a:r>
              <a:rPr lang="en-CA" altLang="en-US" sz="24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method to visit those objects.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5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51204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Visitor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114412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80000"/>
              <a:buFont typeface="Symbol" panose="05050102010706020507" pitchFamily="18" charset="2"/>
              <a:buNone/>
              <a:tabLst/>
              <a:defRPr/>
            </a:pPr>
            <a:r>
              <a:rPr lang="en-CA" altLang="en-US" sz="2400" b="1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Visitor </a:t>
            </a:r>
            <a:r>
              <a:rPr kumimoji="0" lang="en-CA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Solution: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80000"/>
              <a:buFont typeface="Symbol" panose="05050102010706020507" pitchFamily="18" charset="2"/>
              <a:buNone/>
              <a:tabLst/>
              <a:defRPr/>
            </a:pPr>
            <a:r>
              <a:rPr lang="en-CA" altLang="en-US" sz="24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endParaRPr kumimoji="0" lang="en-US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6</a:t>
            </a:fld>
            <a:r>
              <a:rPr lang="en-CA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150" y="1865376"/>
            <a:ext cx="3686861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b="1" dirty="0" smtClean="0"/>
              <a:t>interface Element {</a:t>
            </a:r>
          </a:p>
          <a:p>
            <a:r>
              <a:rPr lang="en-CA" b="1" dirty="0" smtClean="0"/>
              <a:t>    public void accept(Visitor v);</a:t>
            </a:r>
            <a:endParaRPr lang="en-CA" b="1" dirty="0" smtClean="0"/>
          </a:p>
          <a:p>
            <a:r>
              <a:rPr lang="en-CA" b="1" dirty="0" smtClean="0"/>
              <a:t>}</a:t>
            </a:r>
          </a:p>
          <a:p>
            <a:endParaRPr lang="en-CA" b="1" dirty="0" smtClean="0"/>
          </a:p>
          <a:p>
            <a:r>
              <a:rPr lang="en-CA" b="1" dirty="0" smtClean="0"/>
              <a:t>i</a:t>
            </a:r>
            <a:r>
              <a:rPr lang="en-CA" b="1" dirty="0" smtClean="0"/>
              <a:t>nterface Visitor {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public void </a:t>
            </a:r>
            <a:r>
              <a:rPr lang="en-CA" b="1" dirty="0" err="1" smtClean="0"/>
              <a:t>visitRobot</a:t>
            </a:r>
            <a:r>
              <a:rPr lang="en-CA" b="1" dirty="0" smtClean="0"/>
              <a:t>(Robot r);</a:t>
            </a:r>
          </a:p>
          <a:p>
            <a:r>
              <a:rPr lang="en-CA" b="1" dirty="0" smtClean="0"/>
              <a:t>}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59565" y="4242816"/>
            <a:ext cx="3686861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b="1" dirty="0" smtClean="0"/>
              <a:t>class Bender implements Element {</a:t>
            </a:r>
          </a:p>
          <a:p>
            <a:r>
              <a:rPr lang="en-CA" b="1" dirty="0" smtClean="0"/>
              <a:t>    public void accept(Visitor v) {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</a:t>
            </a:r>
            <a:r>
              <a:rPr lang="en-CA" b="1" dirty="0" err="1" smtClean="0"/>
              <a:t>v.visitRobot</a:t>
            </a:r>
            <a:r>
              <a:rPr lang="en-CA" b="1" dirty="0" smtClean="0"/>
              <a:t>(this);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}</a:t>
            </a:r>
            <a:endParaRPr lang="en-CA" b="1" dirty="0" smtClean="0"/>
          </a:p>
          <a:p>
            <a:r>
              <a:rPr lang="en-CA" b="1" dirty="0" smtClean="0"/>
              <a:t>}</a:t>
            </a:r>
          </a:p>
          <a:p>
            <a:endParaRPr lang="en-CA" b="1" dirty="0" smtClean="0"/>
          </a:p>
          <a:p>
            <a:r>
              <a:rPr lang="en-CA" b="1" dirty="0" smtClean="0"/>
              <a:t>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8966" y="1214324"/>
            <a:ext cx="6803135" cy="5078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b="1" dirty="0" smtClean="0"/>
              <a:t>class </a:t>
            </a:r>
            <a:r>
              <a:rPr lang="en-CA" b="1" dirty="0" err="1" smtClean="0"/>
              <a:t>IterateRobots</a:t>
            </a:r>
            <a:r>
              <a:rPr lang="en-CA" b="1" dirty="0" smtClean="0"/>
              <a:t> {</a:t>
            </a:r>
          </a:p>
          <a:p>
            <a:r>
              <a:rPr lang="en-CA" b="1" dirty="0" smtClean="0"/>
              <a:t>    public static void main(String[] </a:t>
            </a:r>
            <a:r>
              <a:rPr lang="en-CA" b="1" dirty="0" err="1" smtClean="0"/>
              <a:t>args</a:t>
            </a:r>
            <a:r>
              <a:rPr lang="en-CA" b="1" dirty="0" smtClean="0"/>
              <a:t>) {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</a:t>
            </a:r>
            <a:r>
              <a:rPr lang="en-CA" b="1" dirty="0" err="1" smtClean="0"/>
              <a:t>ArrayList</a:t>
            </a:r>
            <a:r>
              <a:rPr lang="en-CA" b="1" dirty="0" smtClean="0"/>
              <a:t>&lt;Element&gt; elements = new </a:t>
            </a:r>
            <a:r>
              <a:rPr lang="en-CA" b="1" dirty="0" err="1" smtClean="0"/>
              <a:t>ArrayList</a:t>
            </a:r>
            <a:r>
              <a:rPr lang="en-CA" b="1" dirty="0" smtClean="0"/>
              <a:t>&lt;Element&gt;();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</a:t>
            </a:r>
            <a:r>
              <a:rPr lang="en-CA" b="1" dirty="0" err="1" smtClean="0"/>
              <a:t>elements.add</a:t>
            </a:r>
            <a:r>
              <a:rPr lang="en-CA" b="1" dirty="0" smtClean="0"/>
              <a:t>(new Bender());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</a:t>
            </a:r>
            <a:r>
              <a:rPr lang="en-CA" b="1" dirty="0" err="1" smtClean="0"/>
              <a:t>elements.add</a:t>
            </a:r>
            <a:r>
              <a:rPr lang="en-CA" b="1" dirty="0" smtClean="0"/>
              <a:t>(new </a:t>
            </a:r>
            <a:r>
              <a:rPr lang="en-CA" b="1" dirty="0" err="1" smtClean="0"/>
              <a:t>Flexo</a:t>
            </a:r>
            <a:r>
              <a:rPr lang="en-CA" b="1" dirty="0" smtClean="0"/>
              <a:t>());</a:t>
            </a:r>
          </a:p>
          <a:p>
            <a:endParaRPr lang="en-CA" b="1" dirty="0" smtClean="0"/>
          </a:p>
          <a:p>
            <a:r>
              <a:rPr lang="en-CA" b="1" dirty="0" smtClean="0"/>
              <a:t> </a:t>
            </a:r>
            <a:r>
              <a:rPr lang="en-CA" b="1" dirty="0" smtClean="0"/>
              <a:t>       </a:t>
            </a:r>
            <a:r>
              <a:rPr lang="en-CA" b="1" dirty="0" err="1" smtClean="0"/>
              <a:t>Iterator</a:t>
            </a:r>
            <a:r>
              <a:rPr lang="en-CA" b="1" dirty="0" smtClean="0"/>
              <a:t> it = </a:t>
            </a:r>
            <a:r>
              <a:rPr lang="en-CA" b="1" dirty="0" err="1" smtClean="0"/>
              <a:t>elements.iterator</a:t>
            </a:r>
            <a:r>
              <a:rPr lang="en-CA" b="1" dirty="0" smtClean="0"/>
              <a:t>();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while (</a:t>
            </a:r>
            <a:r>
              <a:rPr lang="en-CA" b="1" dirty="0" err="1" smtClean="0"/>
              <a:t>it.hasNext</a:t>
            </a:r>
            <a:r>
              <a:rPr lang="en-CA" b="1" dirty="0" smtClean="0"/>
              <a:t>()) {</a:t>
            </a:r>
          </a:p>
          <a:p>
            <a:r>
              <a:rPr lang="en-CA" b="1" dirty="0" smtClean="0"/>
              <a:t>            Element e = </a:t>
            </a:r>
            <a:r>
              <a:rPr lang="en-CA" b="1" dirty="0" err="1" smtClean="0"/>
              <a:t>it.next</a:t>
            </a:r>
            <a:r>
              <a:rPr lang="en-CA" b="1" dirty="0" smtClean="0"/>
              <a:t>();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    </a:t>
            </a:r>
            <a:r>
              <a:rPr lang="en-CA" b="1" dirty="0" err="1" smtClean="0"/>
              <a:t>e.accept</a:t>
            </a:r>
            <a:r>
              <a:rPr lang="en-CA" b="1" dirty="0" smtClean="0"/>
              <a:t>(new Visitor {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        public void </a:t>
            </a:r>
            <a:r>
              <a:rPr lang="en-CA" b="1" dirty="0" err="1" smtClean="0"/>
              <a:t>visitRobot</a:t>
            </a:r>
            <a:r>
              <a:rPr lang="en-CA" b="1" dirty="0" smtClean="0"/>
              <a:t>(Robot r) {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            </a:t>
            </a:r>
            <a:r>
              <a:rPr lang="en-CA" b="1" dirty="0" err="1" smtClean="0"/>
              <a:t>r.refuel</a:t>
            </a:r>
            <a:r>
              <a:rPr lang="en-CA" b="1" dirty="0" smtClean="0"/>
              <a:t>();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        }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    });</a:t>
            </a:r>
          </a:p>
          <a:p>
            <a:r>
              <a:rPr lang="en-CA" b="1" dirty="0" smtClean="0"/>
              <a:t> </a:t>
            </a:r>
            <a:r>
              <a:rPr lang="en-CA" b="1" dirty="0" smtClean="0"/>
              <a:t>       }</a:t>
            </a:r>
          </a:p>
          <a:p>
            <a:endParaRPr lang="en-CA" b="1" dirty="0" smtClean="0"/>
          </a:p>
          <a:p>
            <a:r>
              <a:rPr lang="en-CA" b="1" dirty="0" smtClean="0"/>
              <a:t> </a:t>
            </a:r>
            <a:r>
              <a:rPr lang="en-CA" b="1" dirty="0" smtClean="0"/>
              <a:t>   }</a:t>
            </a:r>
            <a:endParaRPr lang="en-CA" b="1" dirty="0" smtClean="0"/>
          </a:p>
          <a:p>
            <a:r>
              <a:rPr lang="en-CA" b="1" dirty="0" smtClean="0"/>
              <a:t>}</a:t>
            </a:r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val="51204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 Diagram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7</a:t>
            </a:fld>
            <a:r>
              <a:rPr lang="en-CA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44FFF9F3-57A7-4D93-BE9C-521D6B9AF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2581046" y="1694688"/>
            <a:ext cx="6553200" cy="3871913"/>
            <a:chOff x="1066800" y="2133600"/>
            <a:chExt cx="6553200" cy="3871913"/>
          </a:xfrm>
        </p:grpSpPr>
        <p:grpSp>
          <p:nvGrpSpPr>
            <p:cNvPr id="14" name="Group 2"/>
            <p:cNvGrpSpPr>
              <a:grpSpLocks/>
            </p:cNvGrpSpPr>
            <p:nvPr/>
          </p:nvGrpSpPr>
          <p:grpSpPr bwMode="auto">
            <a:xfrm>
              <a:off x="2971800" y="2895600"/>
              <a:ext cx="3124200" cy="762000"/>
              <a:chOff x="2064" y="2064"/>
              <a:chExt cx="1968" cy="480"/>
            </a:xfrm>
          </p:grpSpPr>
          <p:sp>
            <p:nvSpPr>
              <p:cNvPr id="15" name="Line 3"/>
              <p:cNvSpPr>
                <a:spLocks noChangeShapeType="1"/>
              </p:cNvSpPr>
              <p:nvPr/>
            </p:nvSpPr>
            <p:spPr bwMode="auto">
              <a:xfrm>
                <a:off x="3024" y="206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" name="Line 4"/>
              <p:cNvSpPr>
                <a:spLocks noChangeShapeType="1"/>
              </p:cNvSpPr>
              <p:nvPr/>
            </p:nvSpPr>
            <p:spPr bwMode="auto">
              <a:xfrm flipH="1">
                <a:off x="2928" y="2304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" name="Line 5"/>
              <p:cNvSpPr>
                <a:spLocks noChangeShapeType="1"/>
              </p:cNvSpPr>
              <p:nvPr/>
            </p:nvSpPr>
            <p:spPr bwMode="auto">
              <a:xfrm>
                <a:off x="3024" y="2304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" name="Line 6"/>
              <p:cNvSpPr>
                <a:spLocks noChangeShapeType="1"/>
              </p:cNvSpPr>
              <p:nvPr/>
            </p:nvSpPr>
            <p:spPr bwMode="auto">
              <a:xfrm>
                <a:off x="2064" y="2400"/>
                <a:ext cx="19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" name="Line 7"/>
              <p:cNvSpPr>
                <a:spLocks noChangeShapeType="1"/>
              </p:cNvSpPr>
              <p:nvPr/>
            </p:nvSpPr>
            <p:spPr bwMode="auto">
              <a:xfrm>
                <a:off x="2064" y="2400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" name="Line 8"/>
              <p:cNvSpPr>
                <a:spLocks noChangeShapeType="1"/>
              </p:cNvSpPr>
              <p:nvPr/>
            </p:nvSpPr>
            <p:spPr bwMode="auto">
              <a:xfrm>
                <a:off x="4032" y="2400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1" name="Rectangle 10"/>
            <p:cNvSpPr>
              <a:spLocks noChangeArrowheads="1"/>
            </p:cNvSpPr>
            <p:nvPr/>
          </p:nvSpPr>
          <p:spPr bwMode="auto">
            <a:xfrm>
              <a:off x="3505200" y="2133600"/>
              <a:ext cx="2057400" cy="7620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>
              <a:off x="3505200" y="2438400"/>
              <a:ext cx="2057400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Text Box 12"/>
            <p:cNvSpPr txBox="1">
              <a:spLocks noChangeArrowheads="1"/>
            </p:cNvSpPr>
            <p:nvPr/>
          </p:nvSpPr>
          <p:spPr bwMode="auto">
            <a:xfrm>
              <a:off x="3581400" y="2133600"/>
              <a:ext cx="1828800" cy="3667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b="1" i="1">
                  <a:solidFill>
                    <a:schemeClr val="tx2"/>
                  </a:solidFill>
                  <a:latin typeface="Helvetica" charset="0"/>
                </a:rPr>
                <a:t>Element</a:t>
              </a:r>
              <a:endParaRPr lang="en-US" sz="1800" b="1">
                <a:solidFill>
                  <a:schemeClr val="tx2"/>
                </a:solidFill>
                <a:latin typeface="Helvetica" charset="0"/>
              </a:endParaRPr>
            </a:p>
          </p:txBody>
        </p:sp>
        <p:sp>
          <p:nvSpPr>
            <p:cNvPr id="24" name="Text Box 13"/>
            <p:cNvSpPr txBox="1">
              <a:spLocks noChangeArrowheads="1"/>
            </p:cNvSpPr>
            <p:nvPr/>
          </p:nvSpPr>
          <p:spPr bwMode="auto">
            <a:xfrm>
              <a:off x="3581400" y="2528888"/>
              <a:ext cx="1828800" cy="3365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chemeClr val="tx2"/>
                  </a:solidFill>
                  <a:latin typeface="Helvetica" charset="0"/>
                </a:rPr>
                <a:t>Accept(Visitor)</a:t>
              </a:r>
              <a:endParaRPr lang="en-US" sz="1800" b="1" i="1">
                <a:solidFill>
                  <a:schemeClr val="tx2"/>
                </a:solidFill>
                <a:latin typeface="Helvetica" charset="0"/>
              </a:endParaRPr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1447800" y="3657600"/>
              <a:ext cx="2438400" cy="928688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Line 15"/>
            <p:cNvSpPr>
              <a:spLocks noChangeShapeType="1"/>
            </p:cNvSpPr>
            <p:nvPr/>
          </p:nvSpPr>
          <p:spPr bwMode="auto">
            <a:xfrm>
              <a:off x="1447800" y="3948113"/>
              <a:ext cx="2438400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27" name="Text Box 16"/>
            <p:cNvSpPr txBox="1">
              <a:spLocks noChangeArrowheads="1"/>
            </p:cNvSpPr>
            <p:nvPr/>
          </p:nvSpPr>
          <p:spPr bwMode="auto">
            <a:xfrm>
              <a:off x="1524000" y="3657600"/>
              <a:ext cx="2362200" cy="3365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 err="1">
                  <a:solidFill>
                    <a:schemeClr val="tx2"/>
                  </a:solidFill>
                  <a:latin typeface="Helvetica" charset="0"/>
                </a:rPr>
                <a:t>ConcreteElementA</a:t>
              </a:r>
              <a:endParaRPr lang="en-US" sz="1600" b="1" dirty="0">
                <a:solidFill>
                  <a:schemeClr val="tx2"/>
                </a:solidFill>
                <a:latin typeface="Helvetica" charset="0"/>
              </a:endParaRPr>
            </a:p>
          </p:txBody>
        </p:sp>
        <p:sp>
          <p:nvSpPr>
            <p:cNvPr id="28" name="Text Box 17"/>
            <p:cNvSpPr txBox="1">
              <a:spLocks noChangeArrowheads="1"/>
            </p:cNvSpPr>
            <p:nvPr/>
          </p:nvSpPr>
          <p:spPr bwMode="auto">
            <a:xfrm>
              <a:off x="1524000" y="3948113"/>
              <a:ext cx="1828800" cy="5080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>
                  <a:solidFill>
                    <a:schemeClr val="tx2"/>
                  </a:solidFill>
                  <a:latin typeface="Helvetica" charset="0"/>
                </a:rPr>
                <a:t>Accept(Visitor V)</a:t>
              </a:r>
            </a:p>
            <a:p>
              <a:pPr>
                <a:lnSpc>
                  <a:spcPct val="20000"/>
                </a:lnSpc>
                <a:spcBef>
                  <a:spcPct val="50000"/>
                </a:spcBef>
              </a:pPr>
              <a:r>
                <a:rPr lang="en-US" sz="1600" dirty="0" err="1">
                  <a:solidFill>
                    <a:schemeClr val="tx2"/>
                  </a:solidFill>
                  <a:latin typeface="Helvetica" charset="0"/>
                </a:rPr>
                <a:t>OperationA</a:t>
              </a:r>
              <a:r>
                <a:rPr lang="en-US" sz="1600" dirty="0">
                  <a:solidFill>
                    <a:schemeClr val="tx2"/>
                  </a:solidFill>
                  <a:latin typeface="Helvetica" charset="0"/>
                </a:rPr>
                <a:t>()</a:t>
              </a:r>
              <a:endParaRPr lang="en-US" sz="1800" b="1" dirty="0">
                <a:solidFill>
                  <a:schemeClr val="tx2"/>
                </a:solidFill>
                <a:latin typeface="Helvetica" charset="0"/>
              </a:endParaRPr>
            </a:p>
          </p:txBody>
        </p:sp>
        <p:sp>
          <p:nvSpPr>
            <p:cNvPr id="29" name="Rectangle 18"/>
            <p:cNvSpPr>
              <a:spLocks noChangeArrowheads="1"/>
            </p:cNvSpPr>
            <p:nvPr/>
          </p:nvSpPr>
          <p:spPr bwMode="auto">
            <a:xfrm>
              <a:off x="5181600" y="3657600"/>
              <a:ext cx="2438400" cy="928688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0" name="Line 19"/>
            <p:cNvSpPr>
              <a:spLocks noChangeShapeType="1"/>
            </p:cNvSpPr>
            <p:nvPr/>
          </p:nvSpPr>
          <p:spPr bwMode="auto">
            <a:xfrm>
              <a:off x="5181600" y="3948113"/>
              <a:ext cx="2438400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Text Box 20"/>
            <p:cNvSpPr txBox="1">
              <a:spLocks noChangeArrowheads="1"/>
            </p:cNvSpPr>
            <p:nvPr/>
          </p:nvSpPr>
          <p:spPr bwMode="auto">
            <a:xfrm>
              <a:off x="5257800" y="3657600"/>
              <a:ext cx="2362200" cy="3365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chemeClr val="tx2"/>
                  </a:solidFill>
                  <a:latin typeface="Helvetica" charset="0"/>
                </a:rPr>
                <a:t>ConcreteElementB</a:t>
              </a:r>
            </a:p>
          </p:txBody>
        </p:sp>
        <p:sp>
          <p:nvSpPr>
            <p:cNvPr id="32" name="Text Box 21"/>
            <p:cNvSpPr txBox="1">
              <a:spLocks noChangeArrowheads="1"/>
            </p:cNvSpPr>
            <p:nvPr/>
          </p:nvSpPr>
          <p:spPr bwMode="auto">
            <a:xfrm>
              <a:off x="5257800" y="3948113"/>
              <a:ext cx="1828800" cy="5080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  <a:latin typeface="Helvetica" charset="0"/>
                </a:rPr>
                <a:t>Accept(Visitor V)</a:t>
              </a:r>
            </a:p>
            <a:p>
              <a:pPr>
                <a:lnSpc>
                  <a:spcPct val="2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  <a:latin typeface="Helvetica" charset="0"/>
                </a:rPr>
                <a:t>OperationB()</a:t>
              </a:r>
              <a:endParaRPr lang="en-US" sz="1800" b="1">
                <a:solidFill>
                  <a:schemeClr val="tx2"/>
                </a:solidFill>
                <a:latin typeface="Helvetica" charset="0"/>
              </a:endParaRPr>
            </a:p>
          </p:txBody>
        </p:sp>
        <p:sp>
          <p:nvSpPr>
            <p:cNvPr id="33" name="AutoShape 22"/>
            <p:cNvSpPr>
              <a:spLocks/>
            </p:cNvSpPr>
            <p:nvPr/>
          </p:nvSpPr>
          <p:spPr bwMode="auto">
            <a:xfrm>
              <a:off x="1981200" y="5626100"/>
              <a:ext cx="5105400" cy="379413"/>
            </a:xfrm>
            <a:prstGeom prst="borderCallout2">
              <a:avLst>
                <a:gd name="adj1" fmla="val 30125"/>
                <a:gd name="adj2" fmla="val -1491"/>
                <a:gd name="adj3" fmla="val 30125"/>
                <a:gd name="adj4" fmla="val -16171"/>
                <a:gd name="adj5" fmla="val -366106"/>
                <a:gd name="adj6" fmla="val -17912"/>
              </a:avLst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en-US" sz="1800" b="1">
                  <a:solidFill>
                    <a:schemeClr val="tx2"/>
                  </a:solidFill>
                  <a:latin typeface="ComputerModernTT" charset="0"/>
                </a:rPr>
                <a:t>V-&gt;VisitConcreteElementA(self())</a:t>
              </a:r>
              <a:endParaRPr lang="en-US" sz="1800" b="1">
                <a:solidFill>
                  <a:schemeClr val="tx2"/>
                </a:solidFill>
                <a:latin typeface="Helvetica" charset="0"/>
              </a:endParaRPr>
            </a:p>
          </p:txBody>
        </p:sp>
        <p:sp>
          <p:nvSpPr>
            <p:cNvPr id="34" name="AutoShape 23"/>
            <p:cNvSpPr>
              <a:spLocks/>
            </p:cNvSpPr>
            <p:nvPr/>
          </p:nvSpPr>
          <p:spPr bwMode="auto">
            <a:xfrm>
              <a:off x="1536700" y="4965700"/>
              <a:ext cx="5105400" cy="379413"/>
            </a:xfrm>
            <a:prstGeom prst="borderCallout2">
              <a:avLst>
                <a:gd name="adj1" fmla="val 30125"/>
                <a:gd name="adj2" fmla="val 101491"/>
                <a:gd name="adj3" fmla="val 30125"/>
                <a:gd name="adj4" fmla="val 106435"/>
                <a:gd name="adj5" fmla="val -212134"/>
                <a:gd name="adj6" fmla="val 106468"/>
              </a:avLst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en-US" sz="1800" b="1">
                  <a:solidFill>
                    <a:schemeClr val="tx2"/>
                  </a:solidFill>
                  <a:latin typeface="ComputerModernTT" charset="0"/>
                </a:rPr>
                <a:t>V-&gt;VisitConcreteElementB(self())</a:t>
              </a:r>
              <a:endParaRPr lang="en-US" sz="1800" b="1">
                <a:solidFill>
                  <a:schemeClr val="tx2"/>
                </a:solidFill>
                <a:latin typeface="Helvetica" charset="0"/>
              </a:endParaRPr>
            </a:p>
          </p:txBody>
        </p:sp>
        <p:sp>
          <p:nvSpPr>
            <p:cNvPr id="35" name="Line 24"/>
            <p:cNvSpPr>
              <a:spLocks noChangeShapeType="1"/>
            </p:cNvSpPr>
            <p:nvPr/>
          </p:nvSpPr>
          <p:spPr bwMode="auto">
            <a:xfrm flipV="1">
              <a:off x="1066800" y="4114800"/>
              <a:ext cx="457200" cy="1524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105470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Visitor Diagram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8</a:t>
            </a:fld>
            <a:r>
              <a:rPr lang="en-CA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44FFF9F3-57A7-4D93-BE9C-521D6B9AF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1892797" y="1848312"/>
            <a:ext cx="7848600" cy="3810000"/>
            <a:chOff x="1505102" y="2023872"/>
            <a:chExt cx="7848600" cy="3810000"/>
          </a:xfrm>
        </p:grpSpPr>
        <p:sp>
          <p:nvSpPr>
            <p:cNvPr id="36" name="Text Box 2"/>
            <p:cNvSpPr txBox="1">
              <a:spLocks noChangeArrowheads="1"/>
            </p:cNvSpPr>
            <p:nvPr/>
          </p:nvSpPr>
          <p:spPr bwMode="auto">
            <a:xfrm>
              <a:off x="1581302" y="4028885"/>
              <a:ext cx="4648200" cy="557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  <a:latin typeface="Helvetica" charset="0"/>
                </a:rPr>
                <a:t>VisitConcreteElementA(ConcreteElementA A)</a:t>
              </a:r>
            </a:p>
            <a:p>
              <a:pPr>
                <a:lnSpc>
                  <a:spcPct val="4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  <a:latin typeface="Helvetica" charset="0"/>
                </a:rPr>
                <a:t>VisitConcreteElementB(ConcreteElementB B)</a:t>
              </a:r>
              <a:endParaRPr lang="en-US" sz="1800" b="1">
                <a:solidFill>
                  <a:schemeClr val="tx2"/>
                </a:solidFill>
                <a:latin typeface="Helvetica" charset="0"/>
              </a:endParaRPr>
            </a:p>
          </p:txBody>
        </p:sp>
        <p:sp>
          <p:nvSpPr>
            <p:cNvPr id="37" name="Line 3"/>
            <p:cNvSpPr>
              <a:spLocks noChangeShapeType="1"/>
            </p:cNvSpPr>
            <p:nvPr/>
          </p:nvSpPr>
          <p:spPr bwMode="auto">
            <a:xfrm>
              <a:off x="5315102" y="2938272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8" name="Line 4"/>
            <p:cNvSpPr>
              <a:spLocks noChangeShapeType="1"/>
            </p:cNvSpPr>
            <p:nvPr/>
          </p:nvSpPr>
          <p:spPr bwMode="auto">
            <a:xfrm flipH="1">
              <a:off x="5162702" y="3319272"/>
              <a:ext cx="15240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Line 5"/>
            <p:cNvSpPr>
              <a:spLocks noChangeShapeType="1"/>
            </p:cNvSpPr>
            <p:nvPr/>
          </p:nvSpPr>
          <p:spPr bwMode="auto">
            <a:xfrm>
              <a:off x="5315102" y="3319272"/>
              <a:ext cx="15240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40" name="Line 6"/>
            <p:cNvSpPr>
              <a:spLocks noChangeShapeType="1"/>
            </p:cNvSpPr>
            <p:nvPr/>
          </p:nvSpPr>
          <p:spPr bwMode="auto">
            <a:xfrm>
              <a:off x="3791102" y="3471672"/>
              <a:ext cx="3124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41" name="Line 7"/>
            <p:cNvSpPr>
              <a:spLocks noChangeShapeType="1"/>
            </p:cNvSpPr>
            <p:nvPr/>
          </p:nvSpPr>
          <p:spPr bwMode="auto">
            <a:xfrm>
              <a:off x="3791102" y="3471672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42" name="Line 8"/>
            <p:cNvSpPr>
              <a:spLocks noChangeShapeType="1"/>
            </p:cNvSpPr>
            <p:nvPr/>
          </p:nvSpPr>
          <p:spPr bwMode="auto">
            <a:xfrm>
              <a:off x="6915302" y="3471672"/>
              <a:ext cx="0" cy="1447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43" name="Rectangle 10"/>
            <p:cNvSpPr>
              <a:spLocks noChangeArrowheads="1"/>
            </p:cNvSpPr>
            <p:nvPr/>
          </p:nvSpPr>
          <p:spPr bwMode="auto">
            <a:xfrm>
              <a:off x="3333902" y="2023872"/>
              <a:ext cx="4419600" cy="9144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Line 11"/>
            <p:cNvSpPr>
              <a:spLocks noChangeShapeType="1"/>
            </p:cNvSpPr>
            <p:nvPr/>
          </p:nvSpPr>
          <p:spPr bwMode="auto">
            <a:xfrm>
              <a:off x="3333902" y="2328672"/>
              <a:ext cx="4419600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45" name="Text Box 12"/>
            <p:cNvSpPr txBox="1">
              <a:spLocks noChangeArrowheads="1"/>
            </p:cNvSpPr>
            <p:nvPr/>
          </p:nvSpPr>
          <p:spPr bwMode="auto">
            <a:xfrm>
              <a:off x="3410102" y="2023872"/>
              <a:ext cx="1828800" cy="3667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b="1" i="1">
                  <a:solidFill>
                    <a:schemeClr val="tx2"/>
                  </a:solidFill>
                  <a:latin typeface="Helvetica" charset="0"/>
                </a:rPr>
                <a:t>Visitor</a:t>
              </a:r>
              <a:endParaRPr lang="en-US" sz="1800" b="1">
                <a:solidFill>
                  <a:schemeClr val="tx2"/>
                </a:solidFill>
                <a:latin typeface="Helvetica" charset="0"/>
              </a:endParaRPr>
            </a:p>
          </p:txBody>
        </p:sp>
        <p:sp>
          <p:nvSpPr>
            <p:cNvPr id="46" name="Text Box 13"/>
            <p:cNvSpPr txBox="1">
              <a:spLocks noChangeArrowheads="1"/>
            </p:cNvSpPr>
            <p:nvPr/>
          </p:nvSpPr>
          <p:spPr bwMode="auto">
            <a:xfrm>
              <a:off x="3410102" y="2328672"/>
              <a:ext cx="4648200" cy="557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chemeClr val="tx2"/>
                  </a:solidFill>
                  <a:latin typeface="Helvetica" charset="0"/>
                </a:rPr>
                <a:t>VisitConcreteElementA(ConcreteElementA)</a:t>
              </a:r>
            </a:p>
            <a:p>
              <a:pPr>
                <a:lnSpc>
                  <a:spcPct val="40000"/>
                </a:lnSpc>
                <a:spcBef>
                  <a:spcPct val="50000"/>
                </a:spcBef>
              </a:pPr>
              <a:r>
                <a:rPr lang="en-US" sz="1600" i="1">
                  <a:solidFill>
                    <a:schemeClr val="tx2"/>
                  </a:solidFill>
                  <a:latin typeface="Helvetica" charset="0"/>
                </a:rPr>
                <a:t>VisitConcreteElementB(ConcreteElementB)</a:t>
              </a:r>
              <a:endParaRPr lang="en-US" sz="1800" b="1" i="1">
                <a:solidFill>
                  <a:schemeClr val="tx2"/>
                </a:solidFill>
                <a:latin typeface="Helvetica" charset="0"/>
              </a:endParaRPr>
            </a:p>
          </p:txBody>
        </p:sp>
        <p:sp>
          <p:nvSpPr>
            <p:cNvPr id="47" name="Rectangle 14"/>
            <p:cNvSpPr>
              <a:spLocks noChangeArrowheads="1"/>
            </p:cNvSpPr>
            <p:nvPr/>
          </p:nvSpPr>
          <p:spPr bwMode="auto">
            <a:xfrm>
              <a:off x="1505102" y="3724085"/>
              <a:ext cx="4724400" cy="9144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48" name="Line 15"/>
            <p:cNvSpPr>
              <a:spLocks noChangeShapeType="1"/>
            </p:cNvSpPr>
            <p:nvPr/>
          </p:nvSpPr>
          <p:spPr bwMode="auto">
            <a:xfrm>
              <a:off x="1505102" y="4028885"/>
              <a:ext cx="4724400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1581302" y="3700272"/>
              <a:ext cx="3810000" cy="3667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  <a:latin typeface="Helvetica" charset="0"/>
                </a:rPr>
                <a:t>ConcreteVisitor1</a:t>
              </a:r>
            </a:p>
          </p:txBody>
        </p:sp>
        <p:sp>
          <p:nvSpPr>
            <p:cNvPr id="50" name="Text Box 17"/>
            <p:cNvSpPr txBox="1">
              <a:spLocks noChangeArrowheads="1"/>
            </p:cNvSpPr>
            <p:nvPr/>
          </p:nvSpPr>
          <p:spPr bwMode="auto">
            <a:xfrm>
              <a:off x="4705502" y="5224272"/>
              <a:ext cx="4648200" cy="557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  <a:latin typeface="Helvetica" charset="0"/>
                </a:rPr>
                <a:t>VisitConcreteElementA(ConcreteElementA A)</a:t>
              </a:r>
            </a:p>
            <a:p>
              <a:pPr>
                <a:lnSpc>
                  <a:spcPct val="4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  <a:latin typeface="Helvetica" charset="0"/>
                </a:rPr>
                <a:t>VisitConcreteElementB(ConcreteElementB B)</a:t>
              </a:r>
              <a:endParaRPr lang="en-US" sz="1800" b="1">
                <a:solidFill>
                  <a:schemeClr val="tx2"/>
                </a:solidFill>
                <a:latin typeface="Helvetica" charset="0"/>
              </a:endParaRPr>
            </a:p>
          </p:txBody>
        </p:sp>
        <p:sp>
          <p:nvSpPr>
            <p:cNvPr id="51" name="Rectangle 18"/>
            <p:cNvSpPr>
              <a:spLocks noChangeArrowheads="1"/>
            </p:cNvSpPr>
            <p:nvPr/>
          </p:nvSpPr>
          <p:spPr bwMode="auto">
            <a:xfrm>
              <a:off x="4629302" y="4919472"/>
              <a:ext cx="4724400" cy="9144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52" name="Line 19"/>
            <p:cNvSpPr>
              <a:spLocks noChangeShapeType="1"/>
            </p:cNvSpPr>
            <p:nvPr/>
          </p:nvSpPr>
          <p:spPr bwMode="auto">
            <a:xfrm>
              <a:off x="4629302" y="5224272"/>
              <a:ext cx="4724400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53" name="Text Box 20"/>
            <p:cNvSpPr txBox="1">
              <a:spLocks noChangeArrowheads="1"/>
            </p:cNvSpPr>
            <p:nvPr/>
          </p:nvSpPr>
          <p:spPr bwMode="auto">
            <a:xfrm>
              <a:off x="4705502" y="4895660"/>
              <a:ext cx="3810000" cy="3667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b="1">
                  <a:solidFill>
                    <a:schemeClr val="tx2"/>
                  </a:solidFill>
                  <a:latin typeface="Helvetica" charset="0"/>
                </a:rPr>
                <a:t>ConcreteVisitor2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105470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Example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9</a:t>
            </a:fld>
            <a:r>
              <a:rPr lang="en-CA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44FFF9F3-57A7-4D93-BE9C-521D6B9AF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201" y="1272285"/>
            <a:ext cx="9921849" cy="4967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sz="1000" dirty="0" smtClean="0"/>
              <a:t>            </a:t>
            </a:r>
            <a:r>
              <a:rPr lang="en-US" b="1" dirty="0" smtClean="0"/>
              <a:t>interface Visitor {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void visit(Man m);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void visit(Woman w);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void visit(Child c);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}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</a:t>
            </a:r>
            <a:r>
              <a:rPr lang="en-US" b="1" dirty="0" smtClean="0"/>
              <a:t>class </a:t>
            </a:r>
            <a:r>
              <a:rPr lang="en-US" b="1" dirty="0" smtClean="0"/>
              <a:t>Doctor implements Visitor {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public void visit(Man m) {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    </a:t>
            </a:r>
            <a:r>
              <a:rPr lang="en-US" b="1" dirty="0" err="1" smtClean="0"/>
              <a:t>System.out.print</a:t>
            </a:r>
            <a:r>
              <a:rPr lang="en-US" b="1" dirty="0" smtClean="0"/>
              <a:t>(" DOC: Visiting a Man ===&gt; ");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    if ( </a:t>
            </a:r>
            <a:r>
              <a:rPr lang="en-US" b="1" dirty="0" err="1" smtClean="0"/>
              <a:t>m.getCholesterol</a:t>
            </a:r>
            <a:r>
              <a:rPr lang="en-US" b="1" dirty="0" smtClean="0"/>
              <a:t>() &gt; 12 ) </a:t>
            </a:r>
            <a:r>
              <a:rPr lang="en-US" b="1" dirty="0" err="1" smtClean="0"/>
              <a:t>System.out.println</a:t>
            </a:r>
            <a:r>
              <a:rPr lang="en-US" b="1" dirty="0" smtClean="0"/>
              <a:t>("Man has high Cholesterol");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</a:t>
            </a:r>
            <a:r>
              <a:rPr lang="en-US" b="1" dirty="0" smtClean="0"/>
              <a:t>}</a:t>
            </a: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public void visit(Woman w) {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 </a:t>
            </a:r>
            <a:r>
              <a:rPr lang="en-US" b="1" dirty="0" smtClean="0"/>
              <a:t>   </a:t>
            </a:r>
            <a:r>
              <a:rPr lang="en-US" b="1" dirty="0" err="1" smtClean="0"/>
              <a:t>System.out.print</a:t>
            </a:r>
            <a:r>
              <a:rPr lang="en-US" b="1" dirty="0" smtClean="0"/>
              <a:t>(" DOC: Visiting a Woman ===&gt; ");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  </a:t>
            </a:r>
            <a:r>
              <a:rPr lang="en-US" b="1" dirty="0" smtClean="0"/>
              <a:t>  </a:t>
            </a:r>
            <a:r>
              <a:rPr lang="en-US" b="1" dirty="0" err="1" smtClean="0"/>
              <a:t>System.out.println</a:t>
            </a:r>
            <a:r>
              <a:rPr lang="en-US" b="1" dirty="0" smtClean="0"/>
              <a:t>( " she is " + </a:t>
            </a:r>
            <a:r>
              <a:rPr lang="en-US" b="1" dirty="0" err="1" smtClean="0"/>
              <a:t>w.daysPregnant</a:t>
            </a:r>
            <a:r>
              <a:rPr lang="en-US" b="1" dirty="0" smtClean="0"/>
              <a:t>() + " days pregnant");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</a:t>
            </a:r>
            <a:r>
              <a:rPr lang="en-US" b="1" dirty="0" smtClean="0"/>
              <a:t>}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</a:t>
            </a:r>
            <a:r>
              <a:rPr lang="en-US" b="1" dirty="0" smtClean="0"/>
              <a:t>      </a:t>
            </a:r>
            <a:r>
              <a:rPr lang="en-US" b="1" dirty="0" smtClean="0"/>
              <a:t>public void visit(Child c) {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   </a:t>
            </a:r>
            <a:r>
              <a:rPr lang="en-US" b="1" dirty="0" smtClean="0"/>
              <a:t> </a:t>
            </a:r>
            <a:r>
              <a:rPr lang="en-US" b="1" dirty="0" err="1" smtClean="0"/>
              <a:t>System.out.print</a:t>
            </a:r>
            <a:r>
              <a:rPr lang="en-US" b="1" dirty="0" smtClean="0"/>
              <a:t>(" DOC: Visiting a Child ===&gt; ");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  </a:t>
            </a:r>
            <a:r>
              <a:rPr lang="en-US" b="1" dirty="0" smtClean="0"/>
              <a:t>  </a:t>
            </a:r>
            <a:r>
              <a:rPr lang="en-US" b="1" dirty="0" err="1" smtClean="0"/>
              <a:t>System.out.println</a:t>
            </a:r>
            <a:r>
              <a:rPr lang="en-US" b="1" dirty="0" smtClean="0"/>
              <a:t>(" </a:t>
            </a:r>
            <a:r>
              <a:rPr lang="en-US" b="1" dirty="0" err="1" smtClean="0"/>
              <a:t>childs</a:t>
            </a:r>
            <a:r>
              <a:rPr lang="en-US" b="1" dirty="0" smtClean="0"/>
              <a:t> temperature is: " + </a:t>
            </a:r>
            <a:r>
              <a:rPr lang="en-US" b="1" dirty="0" err="1" smtClean="0"/>
              <a:t>c.getTemperature</a:t>
            </a:r>
            <a:r>
              <a:rPr lang="en-US" b="1" dirty="0" smtClean="0"/>
              <a:t>());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</a:t>
            </a:r>
            <a:r>
              <a:rPr lang="en-US" b="1" dirty="0" smtClean="0"/>
              <a:t>}</a:t>
            </a: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</a:t>
            </a:r>
            <a:r>
              <a:rPr lang="en-US" b="1" dirty="0" smtClean="0"/>
              <a:t>     }</a:t>
            </a:r>
            <a:endParaRPr lang="en-US" b="1" dirty="0" smtClean="0"/>
          </a:p>
        </p:txBody>
      </p:sp>
    </p:spTree>
    <p:extLst>
      <p:ext uri="{BB962C8B-B14F-4D97-AF65-F5344CB8AC3E}">
        <p14:creationId xmlns="" xmlns:p14="http://schemas.microsoft.com/office/powerpoint/2010/main" val="105470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Example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10</a:t>
            </a:fld>
            <a:r>
              <a:rPr lang="en-CA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44FFF9F3-57A7-4D93-BE9C-521D6B9AF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201" y="1162560"/>
            <a:ext cx="9921849" cy="5853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dirty="0" smtClean="0"/>
              <a:t> 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dirty="0" smtClean="0"/>
              <a:t>       </a:t>
            </a:r>
            <a:r>
              <a:rPr lang="en-US" b="1" dirty="0" smtClean="0"/>
              <a:t>interface Human </a:t>
            </a:r>
            <a:r>
              <a:rPr lang="en-US" b="1" dirty="0" smtClean="0"/>
              <a:t>{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</a:t>
            </a:r>
            <a:r>
              <a:rPr lang="en-US" b="1" dirty="0" smtClean="0"/>
              <a:t>           void </a:t>
            </a:r>
            <a:r>
              <a:rPr lang="en-US" b="1" dirty="0" smtClean="0"/>
              <a:t>accept(Visitor v</a:t>
            </a:r>
            <a:r>
              <a:rPr lang="en-US" b="1" dirty="0" smtClean="0"/>
              <a:t>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</a:t>
            </a:r>
            <a:r>
              <a:rPr lang="en-US" b="1" dirty="0" smtClean="0"/>
              <a:t>      }</a:t>
            </a: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endParaRPr lang="en-CA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class Man implements Human {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public </a:t>
            </a:r>
            <a:r>
              <a:rPr lang="en-US" b="1" dirty="0" err="1" smtClean="0"/>
              <a:t>int</a:t>
            </a:r>
            <a:r>
              <a:rPr lang="en-US" b="1" dirty="0" smtClean="0"/>
              <a:t> </a:t>
            </a:r>
            <a:r>
              <a:rPr lang="en-US" b="1" dirty="0" err="1" smtClean="0"/>
              <a:t>getCholesterol</a:t>
            </a:r>
            <a:r>
              <a:rPr lang="en-US" b="1" dirty="0" smtClean="0"/>
              <a:t>(){ return 20; }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public void accept(Visitor v) { </a:t>
            </a:r>
            <a:r>
              <a:rPr lang="en-US" b="1" dirty="0" err="1" smtClean="0"/>
              <a:t>v.visit</a:t>
            </a:r>
            <a:r>
              <a:rPr lang="en-US" b="1" dirty="0" smtClean="0"/>
              <a:t>(this); }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</a:t>
            </a:r>
            <a:r>
              <a:rPr lang="en-US" b="1" dirty="0" smtClean="0"/>
              <a:t>}</a:t>
            </a: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</a:t>
            </a:r>
            <a:r>
              <a:rPr lang="en-US" b="1" dirty="0" smtClean="0"/>
              <a:t>class </a:t>
            </a:r>
            <a:r>
              <a:rPr lang="en-US" b="1" dirty="0" smtClean="0"/>
              <a:t>Woman implements Human {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</a:t>
            </a:r>
            <a:r>
              <a:rPr lang="en-US" b="1" dirty="0" err="1" smtClean="0"/>
              <a:t>int</a:t>
            </a:r>
            <a:r>
              <a:rPr lang="en-US" b="1" dirty="0" smtClean="0"/>
              <a:t> </a:t>
            </a:r>
            <a:r>
              <a:rPr lang="en-US" b="1" dirty="0" err="1" smtClean="0"/>
              <a:t>daysPregnant</a:t>
            </a:r>
            <a:r>
              <a:rPr lang="en-US" b="1" dirty="0" smtClean="0"/>
              <a:t>() { return 45; }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public void accept(Visitor v) { </a:t>
            </a:r>
            <a:r>
              <a:rPr lang="en-US" b="1" dirty="0" err="1" smtClean="0"/>
              <a:t>v.visit</a:t>
            </a:r>
            <a:r>
              <a:rPr lang="en-US" b="1" dirty="0" smtClean="0"/>
              <a:t>(this); }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</a:t>
            </a:r>
            <a:r>
              <a:rPr lang="en-US" b="1" dirty="0" smtClean="0"/>
              <a:t>}</a:t>
            </a: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</a:t>
            </a:r>
            <a:r>
              <a:rPr lang="en-US" b="1" dirty="0" smtClean="0"/>
              <a:t>class </a:t>
            </a:r>
            <a:r>
              <a:rPr lang="en-US" b="1" dirty="0" smtClean="0"/>
              <a:t>Child implements Human {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double </a:t>
            </a:r>
            <a:r>
              <a:rPr lang="en-US" b="1" dirty="0" err="1" smtClean="0"/>
              <a:t>getTemperature</a:t>
            </a:r>
            <a:r>
              <a:rPr lang="en-US" b="1" dirty="0" smtClean="0"/>
              <a:t>() {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 return  37.8;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</a:t>
            </a:r>
            <a:r>
              <a:rPr lang="en-US" b="1" dirty="0" smtClean="0"/>
              <a:t>     </a:t>
            </a:r>
            <a:r>
              <a:rPr lang="en-US" b="1" dirty="0" smtClean="0"/>
              <a:t>}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public void accept(Visitor v) { </a:t>
            </a:r>
            <a:r>
              <a:rPr lang="en-US" b="1" dirty="0" err="1" smtClean="0"/>
              <a:t>v.visit</a:t>
            </a:r>
            <a:r>
              <a:rPr lang="en-US" b="1" dirty="0" smtClean="0"/>
              <a:t>(this); }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}</a:t>
            </a: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dirty="0" smtClean="0"/>
              <a:t>  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="" xmlns:p14="http://schemas.microsoft.com/office/powerpoint/2010/main" val="105470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Example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11</a:t>
            </a:fld>
            <a:r>
              <a:rPr lang="en-CA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44FFF9F3-57A7-4D93-BE9C-521D6B9AF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941" y="1004090"/>
            <a:ext cx="9921849" cy="5853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</a:t>
            </a:r>
            <a:r>
              <a:rPr lang="en-US" b="1" dirty="0" smtClean="0"/>
              <a:t>      class </a:t>
            </a:r>
            <a:r>
              <a:rPr lang="en-US" b="1" dirty="0" err="1" smtClean="0"/>
              <a:t>Visitor_Tester</a:t>
            </a:r>
            <a:r>
              <a:rPr lang="en-US" b="1" dirty="0" smtClean="0"/>
              <a:t> {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public static void main(String[] </a:t>
            </a:r>
            <a:r>
              <a:rPr lang="en-US" b="1" dirty="0" err="1" smtClean="0"/>
              <a:t>args</a:t>
            </a:r>
            <a:r>
              <a:rPr lang="en-US" b="1" dirty="0" smtClean="0"/>
              <a:t>) throws </a:t>
            </a:r>
            <a:r>
              <a:rPr lang="en-US" b="1" dirty="0" smtClean="0"/>
              <a:t>Exception {</a:t>
            </a: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Human h1 = new Man();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Human h2 = new Woman();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Human h3 = new Child();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Visitor v = new Doctor();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h1.accept(v);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h2.accept(v);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h3.accept(v);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// here we create a new doctor by making an anonymous class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// that has a different way of treating  man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h1.accept( new Doctor( ) </a:t>
            </a:r>
            <a:r>
              <a:rPr lang="en-US" b="1" dirty="0" smtClean="0"/>
              <a:t>{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</a:t>
            </a:r>
            <a:r>
              <a:rPr lang="en-US" b="1" dirty="0" smtClean="0"/>
              <a:t>                    public </a:t>
            </a:r>
            <a:r>
              <a:rPr lang="en-US" b="1" dirty="0" smtClean="0"/>
              <a:t>void visit(Man m){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     </a:t>
            </a:r>
            <a:r>
              <a:rPr lang="en-US" b="1" dirty="0" smtClean="0"/>
              <a:t>     </a:t>
            </a:r>
            <a:r>
              <a:rPr lang="en-US" b="1" dirty="0" err="1" smtClean="0"/>
              <a:t>System.out.print</a:t>
            </a:r>
            <a:r>
              <a:rPr lang="en-US" b="1" dirty="0" smtClean="0"/>
              <a:t>("Medieval DOC visiting Man =&gt;");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     </a:t>
            </a:r>
            <a:r>
              <a:rPr lang="en-US" b="1" dirty="0" smtClean="0"/>
              <a:t>     </a:t>
            </a:r>
            <a:r>
              <a:rPr lang="en-US" b="1" dirty="0" smtClean="0"/>
              <a:t>if( </a:t>
            </a:r>
            <a:r>
              <a:rPr lang="en-US" b="1" dirty="0" err="1" smtClean="0"/>
              <a:t>m.getCholesterol</a:t>
            </a:r>
            <a:r>
              <a:rPr lang="en-US" b="1" dirty="0" smtClean="0"/>
              <a:t>() &gt; 12)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     </a:t>
            </a:r>
            <a:r>
              <a:rPr lang="en-US" b="1" dirty="0" smtClean="0"/>
              <a:t>         </a:t>
            </a:r>
            <a:r>
              <a:rPr lang="en-US" b="1" dirty="0" err="1" smtClean="0"/>
              <a:t>System.out.println</a:t>
            </a:r>
            <a:r>
              <a:rPr lang="en-US" b="1" dirty="0" smtClean="0"/>
              <a:t>(" USE LEACHES ");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     </a:t>
            </a:r>
            <a:r>
              <a:rPr lang="en-US" b="1" dirty="0" smtClean="0"/>
              <a:t>}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</a:t>
            </a:r>
            <a:r>
              <a:rPr lang="en-US" b="1" dirty="0" smtClean="0"/>
              <a:t>               }) </a:t>
            </a:r>
            <a:r>
              <a:rPr lang="en-US" b="1" dirty="0" smtClean="0"/>
              <a:t>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endParaRPr lang="en-US" b="1" dirty="0" smtClean="0"/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    </a:t>
            </a:r>
            <a:r>
              <a:rPr lang="en-US" b="1" dirty="0" err="1" smtClean="0"/>
              <a:t>System.in.read</a:t>
            </a:r>
            <a:r>
              <a:rPr lang="en-US" b="1" dirty="0" smtClean="0"/>
              <a:t>();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    }</a:t>
            </a:r>
          </a:p>
          <a:p>
            <a:pPr>
              <a:lnSpc>
                <a:spcPct val="80000"/>
              </a:lnSpc>
              <a:buFont typeface="Symbol" pitchFamily="18" charset="2"/>
              <a:buNone/>
            </a:pPr>
            <a:r>
              <a:rPr lang="en-US" b="1" dirty="0" smtClean="0"/>
              <a:t>        }</a:t>
            </a:r>
          </a:p>
        </p:txBody>
      </p:sp>
    </p:spTree>
    <p:extLst>
      <p:ext uri="{BB962C8B-B14F-4D97-AF65-F5344CB8AC3E}">
        <p14:creationId xmlns="" xmlns:p14="http://schemas.microsoft.com/office/powerpoint/2010/main" val="105470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eye_tracker_presentation" id="{00ED1D97-A04B-46A0-BB71-88655A6B057F}" vid="{F36189FA-3966-4852-951E-5734674D1C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25593</TotalTime>
  <Words>817</Words>
  <Application>Microsoft Office PowerPoint</Application>
  <PresentationFormat>Custom</PresentationFormat>
  <Paragraphs>210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Visitor Pattern</vt:lpstr>
      <vt:lpstr>Visitor Pattern</vt:lpstr>
      <vt:lpstr>Visitor Pattern</vt:lpstr>
      <vt:lpstr>Visitor Pattern</vt:lpstr>
      <vt:lpstr>Visitor Pattern</vt:lpstr>
      <vt:lpstr>Visitor Pattern</vt:lpstr>
      <vt:lpstr>Element Diagram</vt:lpstr>
      <vt:lpstr>Visitor Diagram</vt:lpstr>
      <vt:lpstr>Another Example</vt:lpstr>
      <vt:lpstr>Another Example</vt:lpstr>
      <vt:lpstr>Another Example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Eye-tracking for Neuroscience</dc:title>
  <dc:creator>Gregory</dc:creator>
  <cp:lastModifiedBy>Greg</cp:lastModifiedBy>
  <cp:revision>228</cp:revision>
  <dcterms:created xsi:type="dcterms:W3CDTF">2016-10-21T00:49:29Z</dcterms:created>
  <dcterms:modified xsi:type="dcterms:W3CDTF">2026-03-18T18:21:43Z</dcterms:modified>
</cp:coreProperties>
</file>